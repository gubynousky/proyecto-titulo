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1558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5775967" name="Google Shape;20;g3a8c3e1dedf_0_0:notes"/>
          <p:cNvSpPr txBox="1">
            <a:spLocks noGrp="1"/>
          </p:cNvSpPr>
          <p:nvPr>
            <p:ph type="body" idx="1"/>
          </p:nvPr>
        </p:nvSpPr>
        <p:spPr bwMode="auto"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52331243" name="Google Shape;21;g3a8c3e1dedf_0_0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746712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0995344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0956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4ACBB6-7A32-BBDC-113E-5BF09205D7E1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PORTADA principal" userDrawn="1">
  <p:cSld name="PORTADA principal">
    <p:bg>
      <p:bgPr>
        <a:blipFill rotWithShape="1">
          <a:blip r:embed="rId2">
            <a:alphaModFix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92075396" name="Google Shape;12;g3a8c3e1dedf_0_21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8894290" y="1347606"/>
            <a:ext cx="53224" cy="2448295"/>
          </a:xfrm>
          <a:prstGeom prst="rect">
            <a:avLst/>
          </a:prstGeom>
          <a:noFill/>
          <a:ln>
            <a:noFill/>
          </a:ln>
        </p:spPr>
      </p:pic>
      <p:sp>
        <p:nvSpPr>
          <p:cNvPr id="673131031" name="Google Shape;13;g3a8c3e1dedf_0_21"/>
          <p:cNvSpPr/>
          <p:nvPr/>
        </p:nvSpPr>
        <p:spPr bwMode="auto">
          <a:xfrm>
            <a:off x="4458745" y="462516"/>
            <a:ext cx="4256100" cy="425040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2967952" name="Google Shape;14;g3a8c3e1dedf_0_21"/>
          <p:cNvSpPr/>
          <p:nvPr/>
        </p:nvSpPr>
        <p:spPr bwMode="auto">
          <a:xfrm>
            <a:off x="4798912" y="2091485"/>
            <a:ext cx="221100" cy="221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408807693" name="Google Shape;15;g3a8c3e1dedf_0_21"/>
          <p:cNvCxnSpPr/>
          <p:nvPr/>
        </p:nvCxnSpPr>
        <p:spPr bwMode="auto">
          <a:xfrm>
            <a:off x="5247167" y="3079865"/>
            <a:ext cx="30861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72263292" name="Google Shape;16;g3a8c3e1dedf_0_21"/>
          <p:cNvSpPr txBox="1">
            <a:spLocks noGrp="1"/>
          </p:cNvSpPr>
          <p:nvPr>
            <p:ph type="title"/>
          </p:nvPr>
        </p:nvSpPr>
        <p:spPr bwMode="auto">
          <a:xfrm>
            <a:off x="5186856" y="1951058"/>
            <a:ext cx="3283500" cy="9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287847104" name="Google Shape;17;g3a8c3e1dedf_0_21"/>
          <p:cNvSpPr txBox="1">
            <a:spLocks noGrp="1"/>
          </p:cNvSpPr>
          <p:nvPr>
            <p:ph type="subTitle" idx="1"/>
          </p:nvPr>
        </p:nvSpPr>
        <p:spPr bwMode="auto">
          <a:xfrm>
            <a:off x="5202964" y="3229131"/>
            <a:ext cx="3267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R="0" lvl="1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pic>
        <p:nvPicPr>
          <p:cNvPr id="1227129306" name="Google Shape;18;g3a8c3e1dedf_0_21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5376609" y="905221"/>
            <a:ext cx="2531930" cy="4067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0387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APA FIN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3675305" name="Rectángulo 5"/>
          <p:cNvSpPr/>
          <p:nvPr userDrawn="1"/>
        </p:nvSpPr>
        <p:spPr bwMode="auto">
          <a:xfrm>
            <a:off x="0" y="1"/>
            <a:ext cx="9144000" cy="51435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s-CL" sz="1350"/>
          </a:p>
        </p:txBody>
      </p:sp>
      <p:grpSp>
        <p:nvGrpSpPr>
          <p:cNvPr id="177032761" name="Grupo 1"/>
          <p:cNvGrpSpPr/>
          <p:nvPr userDrawn="1"/>
        </p:nvGrpSpPr>
        <p:grpSpPr bwMode="auto">
          <a:xfrm>
            <a:off x="1927197" y="4084221"/>
            <a:ext cx="5289608" cy="422609"/>
            <a:chOff x="1569453" y="5445627"/>
            <a:chExt cx="7052811" cy="563479"/>
          </a:xfrm>
        </p:grpSpPr>
        <p:pic>
          <p:nvPicPr>
            <p:cNvPr id="3" name="Imagen 2"/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/>
          </p:blipFill>
          <p:spPr bwMode="auto">
            <a:xfrm>
              <a:off x="3569736" y="5445627"/>
              <a:ext cx="5052528" cy="563479"/>
            </a:xfrm>
            <a:prstGeom prst="rect">
              <a:avLst/>
            </a:prstGeom>
          </p:spPr>
        </p:pic>
        <p:pic>
          <p:nvPicPr>
            <p:cNvPr id="4" name="Imagen 3"/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/>
          </p:blipFill>
          <p:spPr bwMode="auto">
            <a:xfrm>
              <a:off x="1569453" y="5505450"/>
              <a:ext cx="1331493" cy="443831"/>
            </a:xfrm>
            <a:prstGeom prst="rect">
              <a:avLst/>
            </a:prstGeom>
          </p:spPr>
        </p:pic>
      </p:grpSp>
      <p:pic>
        <p:nvPicPr>
          <p:cNvPr id="727541199" name="Imagen 4"/>
          <p:cNvPicPr>
            <a:picLocks noChangeAspect="1"/>
          </p:cNvPicPr>
          <p:nvPr userDrawn="1"/>
        </p:nvPicPr>
        <p:blipFill rotWithShape="1">
          <a:blip r:embed="rId4"/>
          <a:stretch/>
        </p:blipFill>
        <p:spPr bwMode="auto">
          <a:xfrm>
            <a:off x="3072885" y="1718734"/>
            <a:ext cx="2998231" cy="972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786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8126336" name="Google Shape;23;g3a8c3e1dedf_0_0"/>
          <p:cNvSpPr txBox="1">
            <a:spLocks noGrp="1"/>
          </p:cNvSpPr>
          <p:nvPr>
            <p:ph type="title"/>
          </p:nvPr>
        </p:nvSpPr>
        <p:spPr bwMode="auto">
          <a:xfrm>
            <a:off x="5186856" y="1951058"/>
            <a:ext cx="3283500" cy="9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  <a:defRPr/>
            </a:pPr>
            <a:r>
              <a:rPr lang="en-US" sz="2000" dirty="0" err="1">
                <a:latin typeface="Calibri"/>
                <a:ea typeface="Calibri"/>
                <a:cs typeface="Calibri"/>
              </a:rPr>
              <a:t>Evaluación</a:t>
            </a:r>
            <a:r>
              <a:rPr lang="en-US" sz="2000" dirty="0">
                <a:latin typeface="Calibri"/>
                <a:ea typeface="Calibri"/>
                <a:cs typeface="Calibri"/>
              </a:rPr>
              <a:t> Final Transversal</a:t>
            </a:r>
            <a:br>
              <a:rPr lang="en-US" dirty="0"/>
            </a:br>
            <a:r>
              <a:rPr lang="en-US" sz="20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Sistema </a:t>
            </a:r>
            <a:r>
              <a:rPr lang="en-US" sz="20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Inteligente</a:t>
            </a:r>
            <a:br>
              <a:rPr lang="en-US" sz="2000" dirty="0"/>
            </a:br>
            <a:r>
              <a:rPr lang="en-US" sz="20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 </a:t>
            </a:r>
            <a:r>
              <a:rPr lang="en-US" sz="20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Gestión</a:t>
            </a:r>
            <a:r>
              <a:rPr lang="en-US" sz="20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de</a:t>
            </a:r>
            <a:br>
              <a:rPr lang="en-US" sz="2000" dirty="0"/>
            </a:br>
            <a:r>
              <a:rPr lang="en-US" sz="20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Inventario</a:t>
            </a:r>
            <a:r>
              <a:rPr lang="en-US" sz="20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para </a:t>
            </a:r>
            <a:r>
              <a:rPr lang="en-US" sz="20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Pymes</a:t>
            </a:r>
            <a:br>
              <a:rPr lang="en-US" dirty="0"/>
            </a:br>
            <a:endParaRPr dirty="0"/>
          </a:p>
        </p:txBody>
      </p:sp>
      <p:sp>
        <p:nvSpPr>
          <p:cNvPr id="232354181" name="Google Shape;24;g3a8c3e1dedf_0_0"/>
          <p:cNvSpPr txBox="1">
            <a:spLocks noGrp="1"/>
          </p:cNvSpPr>
          <p:nvPr>
            <p:ph type="subTitle" idx="1"/>
          </p:nvPr>
        </p:nvSpPr>
        <p:spPr bwMode="auto">
          <a:xfrm>
            <a:off x="5202964" y="3229131"/>
            <a:ext cx="3267300" cy="10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pPr>
            <a:r>
              <a:rPr lang="en-US" sz="1400" b="1">
                <a:latin typeface="Calibri"/>
                <a:ea typeface="Calibri"/>
                <a:cs typeface="Calibri"/>
              </a:rPr>
              <a:t>Ruby Estrella Martínez Salas</a:t>
            </a:r>
            <a:endParaRPr sz="1400"/>
          </a:p>
          <a:p>
            <a:pPr marL="0" lvl="0" indent="0" algn="l" rtl="0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pPr>
            <a:r>
              <a:rPr lang="en-US" sz="1400">
                <a:latin typeface="Calibri"/>
                <a:ea typeface="Calibri"/>
                <a:cs typeface="Calibri"/>
              </a:rPr>
              <a:t>RUT: 19.500.090-5</a:t>
            </a:r>
            <a:endParaRPr sz="1400"/>
          </a:p>
          <a:p>
            <a:pPr marL="0" lvl="0" indent="0" algn="l" rtl="0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pPr>
            <a:r>
              <a:rPr lang="en-US" sz="1400">
                <a:latin typeface="Calibri"/>
                <a:ea typeface="Calibri"/>
                <a:cs typeface="Calibri"/>
              </a:rPr>
              <a:t>TPY1101 — Taller Aplicado de Programación</a:t>
            </a:r>
            <a:endParaRPr sz="1400"/>
          </a:p>
          <a:p>
            <a:pPr marL="34290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640080" y="292608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371600" y="1508760"/>
            <a:ext cx="457200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13716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011680" y="1508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0" y="2011680"/>
            <a:ext cx="457200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13716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11680" y="20116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Proyecto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71600" y="2514600"/>
            <a:ext cx="457200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137160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11680" y="2514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y Desarrollo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71600" y="3017520"/>
            <a:ext cx="457200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13716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11680" y="3017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y Arquitectura Aplicativa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371600" y="3520440"/>
            <a:ext cx="457200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137160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011680" y="3520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y Pruebas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371600" y="4023360"/>
            <a:ext cx="457200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137160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011680" y="40233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y Análisis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548640" y="4722876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INFORMÁTICA Y TELECOMUNICACIONES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223760" y="472287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Duoc UC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" cy="107899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66928" y="18288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Resumen Ejecutivo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48640" y="4722876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INFORMÁTICA Y TELECOMUNICACIONES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223760" y="472287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Duoc UC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102412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Visión: </a:t>
            </a: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Cloud que optimiza la gestión de inventario en pymes mediante dashboard en tiempo real, predicción de stock y alertas automáticas.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1828800"/>
            <a:ext cx="1947672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566928" y="1828800"/>
            <a:ext cx="1947672" cy="685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704088" y="1947672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8096" y="2331720"/>
            <a:ext cx="162763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con API REST + JWT</a:t>
            </a:r>
            <a:endParaRPr lang="en-US" sz="93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 KPIs y gráficos</a:t>
            </a:r>
            <a:endParaRPr lang="en-US" sz="93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por media móvil</a:t>
            </a:r>
            <a:endParaRPr lang="en-US" sz="93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automáticas en 3 niveles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2651760" y="1828800"/>
            <a:ext cx="1947672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2651760" y="1828800"/>
            <a:ext cx="1947672" cy="685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2788920" y="1947672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tecnológico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52928" y="2331720"/>
            <a:ext cx="162763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Spring Boot 4.0.6</a:t>
            </a:r>
            <a:endParaRPr lang="en-US" sz="93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React 18 + Vite</a:t>
            </a:r>
            <a:endParaRPr lang="en-US" sz="93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BD: PostgreSQL 16</a:t>
            </a:r>
            <a:endParaRPr lang="en-US" sz="93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Railway + Neon + Vercel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4736592" y="1828800"/>
            <a:ext cx="1947672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4736592" y="1828800"/>
            <a:ext cx="1947672" cy="685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4873752" y="1947672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331720"/>
            <a:ext cx="162763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adaptado</a:t>
            </a:r>
            <a:endParaRPr lang="en-US" sz="93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de 2 semanas</a:t>
            </a:r>
            <a:endParaRPr lang="en-US" sz="93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MVC en capas</a:t>
            </a:r>
            <a:endParaRPr lang="en-US" sz="93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iterativo-incremental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6821424" y="1828800"/>
            <a:ext cx="1947672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6821424" y="1828800"/>
            <a:ext cx="1947672" cy="685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6958584" y="1947672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agregado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22592" y="2331720"/>
            <a:ext cx="162763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Gratuito y open source</a:t>
            </a:r>
            <a:endParaRPr lang="en-US" sz="93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Accesible desde cualquier navegador</a:t>
            </a:r>
            <a:endParaRPr lang="en-US" sz="93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única en el segmento</a:t>
            </a:r>
            <a:endParaRPr lang="en-US" sz="93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 Excel con datos en vivo</a:t>
            </a:r>
            <a:endParaRPr lang="en-US" sz="9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" cy="107899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66928" y="18288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Dirección de Proyecto — Plan y Hitos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48640" y="4722876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INFORMÁTICA Y TELECOMUNICACIONES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223760" y="472287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Duoc UC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539496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pic>
        <p:nvPicPr>
          <p:cNvPr id="8" name="Image 0" descr="assets/gant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115568"/>
            <a:ext cx="5212080" cy="3017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852160" y="1051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Hitos principales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852160" y="1417320"/>
            <a:ext cx="640080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5852160" y="1417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583680" y="1417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583680" y="16459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y diseño inicial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852160" y="2039112"/>
            <a:ext cx="640080" cy="4572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/>
          <p:nvPr/>
        </p:nvSpPr>
        <p:spPr>
          <a:xfrm>
            <a:off x="5852160" y="203911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583680" y="20391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583680" y="22677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UML + desarrollo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852160" y="2660904"/>
            <a:ext cx="640080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6"/>
          <p:cNvSpPr/>
          <p:nvPr/>
        </p:nvSpPr>
        <p:spPr>
          <a:xfrm>
            <a:off x="5852160" y="266090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S16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583680" y="266090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583680" y="288950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y correcciones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852160" y="3282696"/>
            <a:ext cx="640080" cy="4572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Text 20"/>
          <p:cNvSpPr/>
          <p:nvPr/>
        </p:nvSpPr>
        <p:spPr>
          <a:xfrm>
            <a:off x="5852160" y="328269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S18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583680" y="32826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ETF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583680" y="35112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y defensa final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65760" y="4315968"/>
            <a:ext cx="8412480" cy="38404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7" name="Text 24"/>
          <p:cNvSpPr/>
          <p:nvPr/>
        </p:nvSpPr>
        <p:spPr>
          <a:xfrm>
            <a:off x="365760" y="431596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Metodología: </a:t>
            </a: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adaptado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sprints de 2 semanas · patrón MVC · </a:t>
            </a: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fases: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→ Backend → Frontend → Testing → Deploy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" cy="107899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66928" y="18288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Dirección de Proyecto — Rendimiento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48640" y="4722876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INFORMÁTICA Y TELECOMUNICACIONES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223760" y="472287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Duoc UC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512064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pic>
        <p:nvPicPr>
          <p:cNvPr id="8" name="Image 0" descr="assets/burndow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115568"/>
            <a:ext cx="4937760" cy="3017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577840" y="1051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(KPIs)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577840" y="1371600"/>
            <a:ext cx="15544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8"/>
          <p:cNvSpPr/>
          <p:nvPr/>
        </p:nvSpPr>
        <p:spPr>
          <a:xfrm>
            <a:off x="5577840" y="1371600"/>
            <a:ext cx="73152" cy="4572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5687568" y="1399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18/18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705856" y="1627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cumplidos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269480" y="1371600"/>
            <a:ext cx="15544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2"/>
          <p:cNvSpPr/>
          <p:nvPr/>
        </p:nvSpPr>
        <p:spPr>
          <a:xfrm>
            <a:off x="7269480" y="1371600"/>
            <a:ext cx="73152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3"/>
          <p:cNvSpPr/>
          <p:nvPr/>
        </p:nvSpPr>
        <p:spPr>
          <a:xfrm>
            <a:off x="7379208" y="1399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98,1%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397496" y="1627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Éxito pruebas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577840" y="1920240"/>
            <a:ext cx="15544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6"/>
          <p:cNvSpPr/>
          <p:nvPr/>
        </p:nvSpPr>
        <p:spPr>
          <a:xfrm>
            <a:off x="5577840" y="1920240"/>
            <a:ext cx="73152" cy="4572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7"/>
          <p:cNvSpPr/>
          <p:nvPr/>
        </p:nvSpPr>
        <p:spPr>
          <a:xfrm>
            <a:off x="5687568" y="19476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~400ms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705856" y="21762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API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269480" y="1920240"/>
            <a:ext cx="15544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0"/>
          <p:cNvSpPr/>
          <p:nvPr/>
        </p:nvSpPr>
        <p:spPr>
          <a:xfrm>
            <a:off x="7269480" y="1920240"/>
            <a:ext cx="73152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1"/>
          <p:cNvSpPr/>
          <p:nvPr/>
        </p:nvSpPr>
        <p:spPr>
          <a:xfrm>
            <a:off x="7379208" y="19476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30+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397496" y="21762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GitHub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5577840" y="2468880"/>
            <a:ext cx="15544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4"/>
          <p:cNvSpPr/>
          <p:nvPr/>
        </p:nvSpPr>
        <p:spPr>
          <a:xfrm>
            <a:off x="5577840" y="2468880"/>
            <a:ext cx="73152" cy="4572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8" name="Text 25"/>
          <p:cNvSpPr/>
          <p:nvPr/>
        </p:nvSpPr>
        <p:spPr>
          <a:xfrm>
            <a:off x="5687568" y="24963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~80%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705856" y="27249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tests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7269480" y="2468880"/>
            <a:ext cx="15544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8"/>
          <p:cNvSpPr/>
          <p:nvPr/>
        </p:nvSpPr>
        <p:spPr>
          <a:xfrm>
            <a:off x="7269480" y="2468880"/>
            <a:ext cx="73152" cy="4572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2" name="Text 29"/>
          <p:cNvSpPr/>
          <p:nvPr/>
        </p:nvSpPr>
        <p:spPr>
          <a:xfrm>
            <a:off x="7379208" y="24963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~99%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7397496" y="27249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EP3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365760" y="4315968"/>
            <a:ext cx="8412480" cy="38404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5" name="Text 32"/>
          <p:cNvSpPr/>
          <p:nvPr/>
        </p:nvSpPr>
        <p:spPr>
          <a:xfrm>
            <a:off x="365760" y="431596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Progreso real cercano al ideal — todos los hitos entregados en tiempo, con calidad medible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" cy="107899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66928" y="18288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Diseño y Desarrollo — Vistas UML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48640" y="4722876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INFORMÁTICA Y TELECOMUNICACIONES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223760" y="472287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Duoc UC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420624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320040" y="1097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1100" dirty="0"/>
          </a:p>
        </p:txBody>
      </p:sp>
      <p:pic>
        <p:nvPicPr>
          <p:cNvPr id="9" name="Image 0" descr="assets/diagrama_casos_us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371600"/>
            <a:ext cx="4114800" cy="27889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617720" y="1051560"/>
            <a:ext cx="420624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4617720" y="1097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Clases</a:t>
            </a:r>
            <a:endParaRPr lang="en-US" sz="1100" dirty="0"/>
          </a:p>
        </p:txBody>
      </p:sp>
      <p:pic>
        <p:nvPicPr>
          <p:cNvPr id="12" name="Image 1" descr="assets/diagrama_clase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3440" y="1371600"/>
            <a:ext cx="4114800" cy="27889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66928" y="4315968"/>
            <a:ext cx="8010144" cy="38404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0"/>
          <p:cNvSpPr/>
          <p:nvPr/>
        </p:nvSpPr>
        <p:spPr>
          <a:xfrm>
            <a:off x="566928" y="4315968"/>
            <a:ext cx="8010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casos de uso · 2 actores · relaciones include/extend  |  6 entidades JPA con 4 tipos de relación UML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" cy="107899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66928" y="18288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Diseño y Desarrollo — Componentes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48640" y="4722876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INFORMÁTICA Y TELECOMUNICACIONES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223760" y="472287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Duoc UC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576072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pic>
        <p:nvPicPr>
          <p:cNvPr id="8" name="Image 0" descr="assets/diagrama_component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115568"/>
            <a:ext cx="5577840" cy="30175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263640" y="1051560"/>
            <a:ext cx="256032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Shape 7"/>
          <p:cNvSpPr/>
          <p:nvPr/>
        </p:nvSpPr>
        <p:spPr>
          <a:xfrm>
            <a:off x="6263640" y="1051560"/>
            <a:ext cx="2560320" cy="685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6400800" y="11887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Fundamentación técnica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0" y="1554480"/>
            <a:ext cx="2331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+ Spring Boot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robusto, DI, seguridad integrada.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rápida, HMR, bundle optimizado.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ACID, soporte JSON, open source.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 + CORS + SSL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estándar en 4 capas.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66928" y="4315968"/>
            <a:ext cx="8010144" cy="38404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1"/>
          <p:cNvSpPr/>
          <p:nvPr/>
        </p:nvSpPr>
        <p:spPr>
          <a:xfrm>
            <a:off x="566928" y="4315968"/>
            <a:ext cx="8010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externa (Vercel↔Railway↔Neon) + interna del backend (3 capas Spring Boot)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" cy="107899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66928" y="18288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Infraestructura — Configuración de Entornos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48640" y="4722876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INFORMÁTICA Y TELECOMUNICACIONES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223760" y="472287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Duoc UC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115568"/>
            <a:ext cx="25603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566928" y="1115568"/>
            <a:ext cx="2560320" cy="685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768096" y="122529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8096" y="15727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(PaaS)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1892808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+ Spring Boot 4.0.6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 desde GitHub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con Nixpacks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entorno seguras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91840" y="1115568"/>
            <a:ext cx="25603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3291840" y="1115568"/>
            <a:ext cx="2560320" cy="685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3493008" y="122529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93008" y="15727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47872" y="1892808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serverless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São Paulo (sa-east-1)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SSL obligatoria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para pruebas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16752" y="1115568"/>
            <a:ext cx="256032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6016752" y="1115568"/>
            <a:ext cx="2560320" cy="685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6217920" y="122529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17920" y="15727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(CDN)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72784" y="1892808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global por CDN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vercel.json con rewrites SPA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Vite optimizado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automático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66928" y="3520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y verificación del entorno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3794760"/>
            <a:ext cx="801014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566928" y="379476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/actuator/health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(status: UP)  ·  </a:t>
            </a: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1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Neon  ·  </a:t>
            </a: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fetch()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errores CORS  ·  Login válido con token JWT en localStorage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" cy="107899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66928" y="18288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Infraestructura — Gestión de Datos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48640" y="4722876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INFORMÁTICA Y TELECOMUNICACIONES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223760" y="472287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Duoc UC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115568"/>
            <a:ext cx="39319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566928" y="1115568"/>
            <a:ext cx="3931920" cy="685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777240" y="1234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respaldo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160020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snapshots diarios (retención 7 días)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pg_dump / pg_restore para volcados manuales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de Neon para pruebas aisladas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seed_corregido.sh idempotente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926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en 3 niveles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324612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Aplicativo: @Transactional revierte fallos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Cloud: Railway redeploy versión anterior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BD: Neon rollback a snapshot puntual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45152" y="1115568"/>
            <a:ext cx="39319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4645152" y="1115568"/>
            <a:ext cx="3931920" cy="685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4855464" y="1234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y privacidad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55464" y="1645920"/>
            <a:ext cx="1051560" cy="329184"/>
          </a:xfrm>
          <a:prstGeom prst="roundRect">
            <a:avLst>
              <a:gd name="adj" fmla="val 13889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4855464" y="16459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HTTPS/TLS 1.3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89320" y="16276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en tránsito.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55464" y="2148840"/>
            <a:ext cx="1051560" cy="329184"/>
          </a:xfrm>
          <a:prstGeom prst="roundRect">
            <a:avLst>
              <a:gd name="adj" fmla="val 13889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4855464" y="214884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en reposo (Neon).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55464" y="2651760"/>
            <a:ext cx="1051560" cy="329184"/>
          </a:xfrm>
          <a:prstGeom prst="roundRect">
            <a:avLst>
              <a:gd name="adj" fmla="val 13889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4855464" y="265176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+ salt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89320" y="26334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irreversible de contraseñas.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55464" y="3154680"/>
            <a:ext cx="1051560" cy="329184"/>
          </a:xfrm>
          <a:prstGeom prst="roundRect">
            <a:avLst>
              <a:gd name="adj" fmla="val 13889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4855464" y="315468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privilegio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89320" y="31363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BD sin permisos DDL.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" cy="107899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66928" y="18288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Calidad y Pruebas —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48640" y="4722876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INFORMÁTICA Y TELECOMUNICACIONES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223760" y="472287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Duoc UC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747522"/>
            <a:ext cx="8010144" cy="457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777240" y="74752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IEEE 829: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Tipo · Módulo · Descripción · Precondición · Datos · Pasos · Esperado · Obtenido · Estado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1323594"/>
            <a:ext cx="39319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566928" y="1323594"/>
            <a:ext cx="3931920" cy="685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777240" y="141503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funcionales (FUN)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1735074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casos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ejecutados con Postman + navegador.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645152" y="1323594"/>
            <a:ext cx="39319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4645152" y="1323594"/>
            <a:ext cx="3931920" cy="685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4855464" y="1415034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unitarias (UNI)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46904" y="1735074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casos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automatizados con JUnit 5 + Mockito.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66928" y="27752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por suite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665488"/>
              </p:ext>
            </p:extLst>
          </p:nvPr>
        </p:nvGraphicFramePr>
        <p:xfrm>
          <a:off x="566928" y="3049524"/>
          <a:ext cx="8010144" cy="147828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Autenticación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Productos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Ventas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Dashboard / Alertas / Predicciones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Integración Cloud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" cy="107899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66928" y="18288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Calidad y Pruebas — Resultados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48640" y="4722876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INFORMÁTICA Y TELECOMUNICACIONES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223760" y="472287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Duoc UC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115568"/>
            <a:ext cx="189280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566928" y="1170432"/>
            <a:ext cx="189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54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66928" y="1682496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totales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24328" y="1115568"/>
            <a:ext cx="189280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2624328" y="1170432"/>
            <a:ext cx="189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624328" y="1682496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aprobados (OK)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81728" y="1115568"/>
            <a:ext cx="189280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4681728" y="1170432"/>
            <a:ext cx="189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81728" y="1682496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observado (OBS)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39128" y="1115568"/>
            <a:ext cx="189280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6739128" y="1170432"/>
            <a:ext cx="189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98,1%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739128" y="1682496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éxito</a:t>
            </a:r>
            <a:endParaRPr lang="en-US" sz="9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40280"/>
          <a:ext cx="8010144" cy="1755648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65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éxito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Autenticación (FUN+UNI)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Productos (FUN+UNI)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Ventas (FUN+UNI)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Dashboard/Alertas/Predicc (FUN+UNI)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Integración Cloud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87,5%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66928" y="4160520"/>
            <a:ext cx="8010144" cy="41148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8"/>
          <p:cNvSpPr/>
          <p:nvPr/>
        </p:nvSpPr>
        <p:spPr>
          <a:xfrm>
            <a:off x="777240" y="41605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TC-054 observado: </a:t>
            </a:r>
            <a:r>
              <a:rPr lang="en-US" sz="10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UTC vs Chile UTC-3/-4 → 3-4h de diferencia visual. Solución: Intl.DateTimeFormat con timeZone America/Santiago.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" cy="107899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66928" y="18288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Calidad y Pruebas — Correcciones y Mejoras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48640" y="4722876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INFORMÁTICA Y TELECOMUNICACIONES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223760" y="472287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Duoc UC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115568"/>
          <a:ext cx="8010144" cy="25146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7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Hallazgo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Corrección aplicada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Estándar de calidad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Zona horaria UTC vs Chile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Intl.DateTimeFormat con timeZone America/Santiago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Usabilidad · Precisión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IVA con decimales imprecisos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Migración de double a BigDecimal (HALF_UP, escala 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Precisión · Corrección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Latencia inicial de predicciones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Caché localStorage (TTL 10 min) + timeout 180s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Oportunidad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CORS bloqueando frontend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allowedOrigins con dominio Vercel exacto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 · Integridad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" y="3794760"/>
            <a:ext cx="8010144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Shape 6"/>
          <p:cNvSpPr/>
          <p:nvPr/>
        </p:nvSpPr>
        <p:spPr>
          <a:xfrm>
            <a:off x="566928" y="3794760"/>
            <a:ext cx="8010144" cy="685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777240" y="38404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 aplicada: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compila y en main · endpoint con al menos 1 caso Postman · servicio crítico con test JUnit+Mockito · UI responsiva · deploy verde · docs actualizadas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" cy="107899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66928" y="18288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Cierre y Análisis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48640" y="4722876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INFORMÁTICA Y TELECOMUNICACIONES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223760" y="472287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Duoc UC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115568"/>
            <a:ext cx="393192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566928" y="1115568"/>
            <a:ext cx="3931920" cy="685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77724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— impacto en la problemática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645920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reemplaza Excel/cuaderno con una plataforma web moderna.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18/18 requisitos funcionales cumplidos.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demanda transforma decisiones intuitivas en decisiones basadas en datos.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automáticas eliminan quiebres de stock no detectados.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cero para la pyme durante MVP; escalable a ~30 USD/mes en producción real.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45152" y="1115568"/>
            <a:ext cx="393192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4645152" y="1115568"/>
            <a:ext cx="3931920" cy="685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4855464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 aprendidas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46904" y="1645920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pruebas unitarias detectaron bugs invisibles en pruebas manuales (IVA con decimales).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 reduce complejidad y costo para pymes vs administrar servidores.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horarias: siempre UTC en BD, convertir solo en presentación.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bien configurado desde el inicio ahorra debugging posterior.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Trabajar con UML aporta claridad al diseño y a la comunicación técnica.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4434840"/>
            <a:ext cx="8010144" cy="2926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566928" y="4434840"/>
            <a:ext cx="8010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Código: </a:t>
            </a:r>
            <a:r>
              <a:rPr lang="en-US" sz="900" b="1" dirty="0">
                <a:solidFill>
                  <a:srgbClr val="3B82F6"/>
                </a:solidFill>
              </a:rPr>
              <a:t>github.com/gubynousky/proyecto-titulo</a:t>
            </a:r>
            <a:r>
              <a:rPr lang="en-US" sz="900" dirty="0">
                <a:solidFill>
                  <a:srgbClr val="94A3B8"/>
                </a:solidFill>
              </a:rPr>
              <a:t>   ·   Frontend: </a:t>
            </a:r>
            <a:r>
              <a:rPr lang="en-US" sz="900" dirty="0">
                <a:solidFill>
                  <a:srgbClr val="3B82F6"/>
                </a:solidFill>
              </a:rPr>
              <a:t>inventario-frontend-kappa.vercel.app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1159</Words>
  <Application>Microsoft Office PowerPoint</Application>
  <PresentationFormat>Presentación en pantalla (16:9)</PresentationFormat>
  <Paragraphs>266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Arial Black</vt:lpstr>
      <vt:lpstr>Calibri</vt:lpstr>
      <vt:lpstr>Consolas</vt:lpstr>
      <vt:lpstr>Office Theme</vt:lpstr>
      <vt:lpstr>Evaluación Final Transversal Sistema Inteligente de Gestión de Inventario para Pymes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Evaluación Final Transversal - Sistema Inteligente de Gestión de Inventario para Pymes</dc:title>
  <dc:subject>PptxGenJS Presentation</dc:subject>
  <dc:creator>Ruby Estrella Martínez Salas</dc:creator>
  <cp:lastModifiedBy>RUBY MARTINEZ MARTINEZ SALAS</cp:lastModifiedBy>
  <cp:revision>2</cp:revision>
  <dcterms:created xsi:type="dcterms:W3CDTF">2026-07-12T04:47:20Z</dcterms:created>
  <dcterms:modified xsi:type="dcterms:W3CDTF">2026-07-12T22:40:55Z</dcterms:modified>
</cp:coreProperties>
</file>