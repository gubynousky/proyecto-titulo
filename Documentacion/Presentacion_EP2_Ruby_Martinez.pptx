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</p:sldIdLst>
  <p:sldSz cx="9144000" cy="5143500" type="screen16x9"/>
  <p:notesSz cx="5143500" cy="9144000"/>
  <p:embeddedFontLst>
    <p:embeddedFont>
      <p:font typeface="Arial Black" panose="020B0A04020102020204" pitchFamily="34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000000"/>
          </p15:clr>
        </p15:guide>
        <p15:guide id="2" orient="horz" pos="162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jJUoN2/EDAUuM5aMTBg0oQEMte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42ADCDC-673D-45D1-ABA1-F4C6B78DAAB9}">
  <a:tblStyle styleId="{642ADCDC-673D-45D1-ABA1-F4C6B78DAA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5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a8c3e1dedf_0_0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g3a8c3e1ded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" name="Google Shape;32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1" name="Google Shape;35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7" name="Google Shape;37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2" name="Google Shape;40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1" name="Google Shape;43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1" name="Google Shape;47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7" name="Google Shape;52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9" name="Google Shape;579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" name="Google Shape;60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7" name="Google Shape;61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5" name="Google Shape;665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principal">
  <p:cSld name="PORTADA principal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g3a8c3e1dedf_0_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94290" y="1347606"/>
            <a:ext cx="53224" cy="244829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g3a8c3e1dedf_0_21"/>
          <p:cNvSpPr/>
          <p:nvPr/>
        </p:nvSpPr>
        <p:spPr>
          <a:xfrm>
            <a:off x="4458745" y="462516"/>
            <a:ext cx="4256100" cy="425040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g3a8c3e1dedf_0_21"/>
          <p:cNvSpPr/>
          <p:nvPr/>
        </p:nvSpPr>
        <p:spPr>
          <a:xfrm>
            <a:off x="4798912" y="2091485"/>
            <a:ext cx="221100" cy="22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" name="Google Shape;15;g3a8c3e1dedf_0_21"/>
          <p:cNvCxnSpPr/>
          <p:nvPr/>
        </p:nvCxnSpPr>
        <p:spPr>
          <a:xfrm>
            <a:off x="5247167" y="3079865"/>
            <a:ext cx="30861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" name="Google Shape;16;g3a8c3e1dedf_0_21"/>
          <p:cNvSpPr txBox="1">
            <a:spLocks noGrp="1"/>
          </p:cNvSpPr>
          <p:nvPr>
            <p:ph type="title"/>
          </p:nvPr>
        </p:nvSpPr>
        <p:spPr>
          <a:xfrm>
            <a:off x="5186857" y="1951058"/>
            <a:ext cx="3283500" cy="9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g3a8c3e1dedf_0_21"/>
          <p:cNvSpPr txBox="1">
            <a:spLocks noGrp="1"/>
          </p:cNvSpPr>
          <p:nvPr>
            <p:ph type="subTitle" idx="1"/>
          </p:nvPr>
        </p:nvSpPr>
        <p:spPr>
          <a:xfrm>
            <a:off x="5202964" y="3229131"/>
            <a:ext cx="3267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8" name="Google Shape;18;g3a8c3e1dedf_0_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76609" y="905221"/>
            <a:ext cx="2531930" cy="406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PA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95D537A3-771A-B373-471B-2113C671CFBB}"/>
              </a:ext>
            </a:extLst>
          </p:cNvPr>
          <p:cNvSpPr/>
          <p:nvPr userDrawn="1"/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F91E6D1-21AD-8149-634F-39874CDDB05F}"/>
              </a:ext>
            </a:extLst>
          </p:cNvPr>
          <p:cNvGrpSpPr/>
          <p:nvPr userDrawn="1"/>
        </p:nvGrpSpPr>
        <p:grpSpPr>
          <a:xfrm>
            <a:off x="1927197" y="4084221"/>
            <a:ext cx="5289608" cy="422609"/>
            <a:chOff x="1569453" y="5445627"/>
            <a:chExt cx="7052811" cy="563479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5C7F6159-27FC-D37D-6948-67F8EE366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569736" y="5445627"/>
              <a:ext cx="5052528" cy="563479"/>
            </a:xfrm>
            <a:prstGeom prst="rect">
              <a:avLst/>
            </a:prstGeom>
          </p:spPr>
        </p:pic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3051E8F7-021B-497B-A676-8142240D8E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9453" y="5505450"/>
              <a:ext cx="1331493" cy="443831"/>
            </a:xfrm>
            <a:prstGeom prst="rect">
              <a:avLst/>
            </a:prstGeom>
          </p:spPr>
        </p:pic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BA44E097-D359-D78B-4054-E34A9D1A970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72885" y="1718734"/>
            <a:ext cx="2998231" cy="97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184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a8c3e1dedf_0_0"/>
          <p:cNvSpPr txBox="1">
            <a:spLocks noGrp="1"/>
          </p:cNvSpPr>
          <p:nvPr>
            <p:ph type="title"/>
          </p:nvPr>
        </p:nvSpPr>
        <p:spPr>
          <a:xfrm>
            <a:off x="5186857" y="1951058"/>
            <a:ext cx="3283500" cy="9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Estado de Avance</a:t>
            </a:r>
            <a:br>
              <a:rPr lang="en-US" sz="2000"/>
            </a:b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N°2</a:t>
            </a:r>
            <a:br>
              <a:rPr lang="en-US"/>
            </a:b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Sistema Inteligente</a:t>
            </a:r>
            <a:br>
              <a:rPr lang="en-US" sz="2000"/>
            </a:b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Gestión de</a:t>
            </a:r>
            <a:br>
              <a:rPr lang="en-US" sz="2000"/>
            </a:b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Inventario para Pymes</a:t>
            </a:r>
            <a:br>
              <a:rPr lang="en-US"/>
            </a:br>
            <a:endParaRPr/>
          </a:p>
        </p:txBody>
      </p:sp>
      <p:sp>
        <p:nvSpPr>
          <p:cNvPr id="24" name="Google Shape;24;g3a8c3e1dedf_0_0"/>
          <p:cNvSpPr txBox="1">
            <a:spLocks noGrp="1"/>
          </p:cNvSpPr>
          <p:nvPr>
            <p:ph type="subTitle" idx="1"/>
          </p:nvPr>
        </p:nvSpPr>
        <p:spPr>
          <a:xfrm>
            <a:off x="5202964" y="3229131"/>
            <a:ext cx="3267300" cy="10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 sz="1400" b="1">
                <a:latin typeface="Calibri"/>
                <a:ea typeface="Calibri"/>
                <a:cs typeface="Calibri"/>
                <a:sym typeface="Calibri"/>
              </a:rPr>
              <a:t>Ruby Estrella Martínez Salas</a:t>
            </a:r>
            <a:endParaRPr sz="1400"/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RUT: 19.500.090-5</a:t>
            </a:r>
            <a:endParaRPr sz="1400"/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TPY1101 — Taller Aplicado de Programación</a:t>
            </a:r>
            <a:endParaRPr sz="1400"/>
          </a:p>
          <a:p>
            <a:pPr marL="34290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384048" cy="5143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640080" y="292608"/>
            <a:ext cx="54864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40080" y="1207008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PARTE A — RESUMEN EP1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40080" y="1627632"/>
            <a:ext cx="384048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40080" y="16276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188720" y="1627632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Integrantes y contexto del proyecto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40080" y="2139696"/>
            <a:ext cx="384048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40080" y="21396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88720" y="2139696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Problemática, objetivos y alcance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40080" y="2651760"/>
            <a:ext cx="384048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40080" y="26517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188720" y="265176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Tecnología Cloud y metodología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40080" y="3163824"/>
            <a:ext cx="384048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640080" y="316382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188720" y="3163824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Arquitectura del sistema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800600" y="1207008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PARTE B — DESARROLLO EP2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800600" y="1627632"/>
            <a:ext cx="384048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800600" y="16276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349240" y="1627632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Diagramas UML de diseño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800600" y="2139696"/>
            <a:ext cx="384048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800600" y="21396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349240" y="2139696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Configuración del ambiente Cloud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800600" y="2651760"/>
            <a:ext cx="384048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800600" y="26517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349240" y="265176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Backup de BD y servidores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800600" y="3163824"/>
            <a:ext cx="384048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4800600" y="316382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349240" y="3163824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Desarrollo del producto (back + front)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800600" y="3675888"/>
            <a:ext cx="384048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4800600" y="36758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349240" y="3675888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Plan de pruebas y estado de avance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800600" y="4187952"/>
            <a:ext cx="384048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4800600" y="418795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349240" y="4187952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 err="1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Duoc UC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Integrantes del Equipo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Duoc UC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66928" y="1143000"/>
            <a:ext cx="8010144" cy="3200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566928" y="1143000"/>
            <a:ext cx="118872" cy="3200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1024128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Ruby Estrella Martínez Salas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024128" y="1801367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RUT: 19.500.090-5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024128" y="217627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Rol: Full Stack Developer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1024128" y="2514600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Frontend + Backend + Base de Datos + QA + Documentación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024128" y="289864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Responsabilidades: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207008" y="3172968"/>
            <a:ext cx="49377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Frontend (React 18 + Vite + Tailwind CSS)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Backend (Java 21 + Spring Boot 4.0.6)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Base de Datos (PostgreSQL 16)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Testing (40 casos de prueba ejecutados)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Despliegue Cloud (Railway + Neon + Vercel)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053328" y="2926080"/>
            <a:ext cx="22860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6053328" y="3044952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PROYECTO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INDIVIDUAL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6144768" y="3538728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Todos los roles asumidos por una sola persona.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Contexto del Proyecto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Duoc UC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66928" y="1170432"/>
            <a:ext cx="3913632" cy="14813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566928" y="1170432"/>
            <a:ext cx="3913632" cy="685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795528" y="1325880"/>
            <a:ext cx="34564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Situación Actual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859536" y="1700784"/>
            <a:ext cx="336499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Pymes gestionan inventario con Excel o cuadernos.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Errores humanos, quiebres de stock, sobrestock.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Decisiones por intuición, no por datos reales.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663440" y="1170432"/>
            <a:ext cx="3913632" cy="14813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4663440" y="1170432"/>
            <a:ext cx="3913632" cy="685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4892039" y="1325880"/>
            <a:ext cx="34564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Solución Propuesta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956048" y="1700784"/>
            <a:ext cx="336499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Plataforma web Cloud de gestión integral.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Dashboard con KPIs y gráficos en tiempo real.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Predicción de stock + alertas automáticas.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66928" y="2816352"/>
            <a:ext cx="3913632" cy="14813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566928" y="2816352"/>
            <a:ext cx="3913632" cy="685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795528" y="2971800"/>
            <a:ext cx="34564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Mercado Objetivo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859536" y="3346704"/>
            <a:ext cx="336499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Pequeños comercios (50-500 productos).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Emprendimientos sin presupuesto ERP.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Microempresas (1-9 trabajadores).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663440" y="2816352"/>
            <a:ext cx="3913632" cy="14813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4663440" y="2816352"/>
            <a:ext cx="3913632" cy="685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4892039" y="2971800"/>
            <a:ext cx="34564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Propuesta de Valor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956048" y="3346704"/>
            <a:ext cx="336499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Gratuito y open source, sin licencias.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Accesible desde cualquier navegador.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Predicción inteligente única en el segmento.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548640" y="20116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Diagrama Ishikawa — Causa y Efecto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Duoc UC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5"/>
          <p:cNvCxnSpPr/>
          <p:nvPr/>
        </p:nvCxnSpPr>
        <p:spPr>
          <a:xfrm>
            <a:off x="320040" y="2670048"/>
            <a:ext cx="6446520" cy="0"/>
          </a:xfrm>
          <a:prstGeom prst="straightConnector1">
            <a:avLst/>
          </a:prstGeom>
          <a:noFill/>
          <a:ln w="381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4" name="Google Shape;124;p5"/>
          <p:cNvCxnSpPr/>
          <p:nvPr/>
        </p:nvCxnSpPr>
        <p:spPr>
          <a:xfrm>
            <a:off x="1257300" y="1298448"/>
            <a:ext cx="0" cy="1371600"/>
          </a:xfrm>
          <a:prstGeom prst="straightConnector1">
            <a:avLst/>
          </a:prstGeom>
          <a:noFill/>
          <a:ln w="15875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5" name="Google Shape;125;p5"/>
          <p:cNvCxnSpPr/>
          <p:nvPr/>
        </p:nvCxnSpPr>
        <p:spPr>
          <a:xfrm>
            <a:off x="1257300" y="2670048"/>
            <a:ext cx="0" cy="1371600"/>
          </a:xfrm>
          <a:prstGeom prst="straightConnector1">
            <a:avLst/>
          </a:prstGeom>
          <a:noFill/>
          <a:ln w="15875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6" name="Google Shape;126;p5"/>
          <p:cNvCxnSpPr/>
          <p:nvPr/>
        </p:nvCxnSpPr>
        <p:spPr>
          <a:xfrm>
            <a:off x="3451860" y="1298448"/>
            <a:ext cx="0" cy="1371600"/>
          </a:xfrm>
          <a:prstGeom prst="straightConnector1">
            <a:avLst/>
          </a:prstGeom>
          <a:noFill/>
          <a:ln w="15875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7" name="Google Shape;127;p5"/>
          <p:cNvCxnSpPr/>
          <p:nvPr/>
        </p:nvCxnSpPr>
        <p:spPr>
          <a:xfrm>
            <a:off x="3451860" y="2670048"/>
            <a:ext cx="0" cy="1371600"/>
          </a:xfrm>
          <a:prstGeom prst="straightConnector1">
            <a:avLst/>
          </a:prstGeom>
          <a:noFill/>
          <a:ln w="15875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" name="Google Shape;128;p5"/>
          <p:cNvCxnSpPr/>
          <p:nvPr/>
        </p:nvCxnSpPr>
        <p:spPr>
          <a:xfrm>
            <a:off x="5646420" y="1298448"/>
            <a:ext cx="0" cy="1371600"/>
          </a:xfrm>
          <a:prstGeom prst="straightConnector1">
            <a:avLst/>
          </a:prstGeom>
          <a:noFill/>
          <a:ln w="15875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" name="Google Shape;129;p5"/>
          <p:cNvCxnSpPr/>
          <p:nvPr/>
        </p:nvCxnSpPr>
        <p:spPr>
          <a:xfrm>
            <a:off x="5646420" y="2670048"/>
            <a:ext cx="0" cy="1371600"/>
          </a:xfrm>
          <a:prstGeom prst="straightConnector1">
            <a:avLst/>
          </a:prstGeom>
          <a:noFill/>
          <a:ln w="15875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0" name="Google Shape;130;p5"/>
          <p:cNvSpPr/>
          <p:nvPr/>
        </p:nvSpPr>
        <p:spPr>
          <a:xfrm>
            <a:off x="320040" y="868680"/>
            <a:ext cx="187452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320040" y="868680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65760" y="1325880"/>
            <a:ext cx="18745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Procesos manuales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Sin estandarización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Registro en papel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2514600" y="868680"/>
            <a:ext cx="187452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2514600" y="868680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Tecnología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2560320" y="1325880"/>
            <a:ext cx="18745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Solo Excel básico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Sin software accesible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Sin automatización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4709160" y="868680"/>
            <a:ext cx="187452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4709160" y="868680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Personas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754880" y="1325880"/>
            <a:ext cx="18745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Falta capacitación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Resistencia al cambio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Un solo encargado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65760" y="2743200"/>
            <a:ext cx="18745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Sin datos históricos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Sin predicción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Reportes inexistentes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320040" y="3657600"/>
            <a:ext cx="187452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320040" y="3657600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Información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2560320" y="2743200"/>
            <a:ext cx="18745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Competencia digital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Costos ERP altos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Falta oferta pyme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2514600" y="3657600"/>
            <a:ext cx="187452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2514600" y="3657600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Entorno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754880" y="2743200"/>
            <a:ext cx="18745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Sin KPIs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Stock no monitoreado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Pérdidas no detectadas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709160" y="3657600"/>
            <a:ext cx="187452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4709160" y="3657600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Medición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766560" y="1874520"/>
            <a:ext cx="2057400" cy="1600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6766560" y="1874520"/>
            <a:ext cx="2057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Gestión de inventario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ineficiente en pymes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Objetivos del Proyecto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Duoc UC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66928" y="1115568"/>
            <a:ext cx="8010144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841248" y="120700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841248" y="1463040"/>
            <a:ext cx="74066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Desarrollar un sistema web inteligente que optimice la gestión de inventario en pymes mediante análisis predictivo basado en estadística descriptiva, desplegado en ambiente Cloud.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66928" y="2304288"/>
            <a:ext cx="8010144" cy="4754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566928" y="2304288"/>
            <a:ext cx="512064" cy="4754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566928" y="2304288"/>
            <a:ext cx="51206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1243584" y="2304288"/>
            <a:ext cx="7132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CRUD de productos, categorías y ventas con API REST segura (JWT).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66928" y="2871216"/>
            <a:ext cx="8010144" cy="4754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566928" y="2871216"/>
            <a:ext cx="512064" cy="47548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566928" y="2871216"/>
            <a:ext cx="51206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243584" y="2871216"/>
            <a:ext cx="7132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Dashboard interactivo con KPIs y gráficos en tiempo real (Recharts).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66928" y="3438144"/>
            <a:ext cx="8010144" cy="4754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566928" y="3438144"/>
            <a:ext cx="512064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566928" y="3438144"/>
            <a:ext cx="51206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1243584" y="3438144"/>
            <a:ext cx="7132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Lógica predictiva de stock (media móvil ponderada, días restantes).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566928" y="4005072"/>
            <a:ext cx="8010144" cy="4754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566928" y="4005072"/>
            <a:ext cx="512064" cy="4754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566928" y="4005072"/>
            <a:ext cx="51206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1243584" y="4005072"/>
            <a:ext cx="7132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Alertas automáticas de reposición (crítico, alto, medio, bajo).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Alcance y Restricciones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Duoc UC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66928" y="1188720"/>
            <a:ext cx="1892808" cy="31089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566928" y="1188720"/>
            <a:ext cx="1892808" cy="685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731520" y="1335024"/>
            <a:ext cx="156362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Alcance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786384" y="1719072"/>
            <a:ext cx="1527048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CRUD productos/categorías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Registro de ventas + IVA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Dashboard con KPIs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Predicción de stock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Alertas automáticas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Autenticación JWT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2606040" y="1188720"/>
            <a:ext cx="1892808" cy="31089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2606040" y="1188720"/>
            <a:ext cx="1892808" cy="685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2770632" y="1335024"/>
            <a:ext cx="156362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Entregables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2825496" y="1719072"/>
            <a:ext cx="1527048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Código fuente (GitHub)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Modelo ER (PostgreSQL)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Diagramas UML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Doc. requerimientos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Manual de usuario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Plan de pruebas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645152" y="1188720"/>
            <a:ext cx="1892808" cy="31089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4645152" y="1188720"/>
            <a:ext cx="1892808" cy="685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4809744" y="1335024"/>
            <a:ext cx="156362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Supuestos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4864607" y="1719072"/>
            <a:ext cx="1527048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Internet estable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Navegador moderno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PostgreSQL en Cloud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1-5 usuarios concurrentes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Datos de stock válidos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6684264" y="1188720"/>
            <a:ext cx="1892808" cy="31089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6684264" y="1188720"/>
            <a:ext cx="1892808" cy="685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6848856" y="1335024"/>
            <a:ext cx="156362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Restricciones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6903720" y="1719072"/>
            <a:ext cx="1527048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Proyecto individual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 semestre (18 sem)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Sin licencias pagadas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Cloud capa gratuita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Sin pasarela de pago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Sin app móvil nativa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Tecnología y Servicios Cloud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Duoc UC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5" name="Google Shape;215;p8"/>
          <p:cNvGraphicFramePr/>
          <p:nvPr/>
        </p:nvGraphicFramePr>
        <p:xfrm>
          <a:off x="566928" y="1133856"/>
          <a:ext cx="8010150" cy="1810500"/>
        </p:xfrm>
        <a:graphic>
          <a:graphicData uri="http://schemas.openxmlformats.org/drawingml/2006/table">
            <a:tbl>
              <a:tblPr>
                <a:noFill/>
                <a:tableStyleId>{642ADCDC-673D-45D1-ABA1-F4C6B78DAAB9}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Tecnología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Justificación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Frontend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React 18 + Vite + Tailwind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SPA rápida, responsiva, por componentes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Backend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Java 21 + Spring Boot 4.0.6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Enterprise robusto, seguridad integrada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BD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PostgreSQL 16 (Neon)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source, confiable, soporte JSON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Seguridad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Spring Security + JWT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Autenticación stateless estándar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Deploy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Railway + Neon + Vercel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Despliegue Cloud en capa gratuita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6" name="Google Shape;216;p8"/>
          <p:cNvSpPr/>
          <p:nvPr/>
        </p:nvSpPr>
        <p:spPr>
          <a:xfrm>
            <a:off x="566928" y="3246120"/>
            <a:ext cx="2560320" cy="12984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566928" y="3246120"/>
            <a:ext cx="2560320" cy="685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768096" y="3364992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IaaS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822960" y="370332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VMs base de los servicios.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5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AWS EC2 / DigitalOcean.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5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Referencia, no usado directo.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3291840" y="3246120"/>
            <a:ext cx="2560320" cy="12984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3291840" y="3246120"/>
            <a:ext cx="2560320" cy="685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3493008" y="3364992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PaaS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3547872" y="370332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Plataforma gestionada.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5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Railway (backend), Neon (BD).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5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Vercel (frontend React).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6016752" y="3246120"/>
            <a:ext cx="2560320" cy="12984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6016752" y="3246120"/>
            <a:ext cx="2560320" cy="685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6217920" y="3364992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SaaS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6272784" y="370332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GitHub, Postman Cloud.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5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Control de versiones.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5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Pruebas y documentación.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Metodología Scrum Adaptado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Duoc UC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566928" y="914400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Ciclo iterativo e incremental. Sprints de 2 semanas. Patrón MVC (Controller → Service → Repository).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566928" y="1417320"/>
            <a:ext cx="1517904" cy="26060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566928" y="1417320"/>
            <a:ext cx="1517904" cy="685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566928" y="1600200"/>
            <a:ext cx="15179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822960" y="2130552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822960" y="2130552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S1-S2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658368" y="2788920"/>
            <a:ext cx="133502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Requerimientos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Modelo 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 rot="5400000">
            <a:off x="2107692" y="2587752"/>
            <a:ext cx="182880" cy="201168"/>
          </a:xfrm>
          <a:prstGeom prst="triangle">
            <a:avLst>
              <a:gd name="adj" fmla="val 50000"/>
            </a:avLst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2249424" y="1417320"/>
            <a:ext cx="1517904" cy="26060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2249424" y="1417320"/>
            <a:ext cx="1517904" cy="685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2249424" y="1600200"/>
            <a:ext cx="15179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2505456" y="2130552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2505456" y="2130552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S3-S7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2340864" y="2788920"/>
            <a:ext cx="133502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API REST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Security JWT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 rot="5400000">
            <a:off x="3790188" y="2587752"/>
            <a:ext cx="182880" cy="201168"/>
          </a:xfrm>
          <a:prstGeom prst="triangle">
            <a:avLst>
              <a:gd name="adj" fmla="val 50000"/>
            </a:avLst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3931920" y="1417320"/>
            <a:ext cx="1517904" cy="26060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3931920" y="1417320"/>
            <a:ext cx="1517904" cy="685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3931920" y="1600200"/>
            <a:ext cx="15179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4187952" y="2130552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4187952" y="2130552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S8-S13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4023360" y="2788920"/>
            <a:ext cx="133502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React + Dashboard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Predicción + Alertas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 rot="5400000">
            <a:off x="5472684" y="2587752"/>
            <a:ext cx="182880" cy="201168"/>
          </a:xfrm>
          <a:prstGeom prst="triangle">
            <a:avLst>
              <a:gd name="adj" fmla="val 50000"/>
            </a:avLst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5614416" y="1417320"/>
            <a:ext cx="1517904" cy="26060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5614416" y="1417320"/>
            <a:ext cx="1517904" cy="685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5614416" y="1600200"/>
            <a:ext cx="15179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5870448" y="2130552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5870448" y="2130552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S14-S15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5705856" y="2788920"/>
            <a:ext cx="133502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40 casos de prueba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QA funcional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 rot="5400000">
            <a:off x="7155180" y="2587752"/>
            <a:ext cx="182880" cy="201168"/>
          </a:xfrm>
          <a:prstGeom prst="triangle">
            <a:avLst>
              <a:gd name="adj" fmla="val 50000"/>
            </a:avLst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7296912" y="1417320"/>
            <a:ext cx="1517904" cy="26060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7296912" y="1417320"/>
            <a:ext cx="1517904" cy="685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7296912" y="1600200"/>
            <a:ext cx="15179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Deploy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7552944" y="2130552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7552944" y="2130552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S16-S18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7388352" y="2788920"/>
            <a:ext cx="133502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Railway/Neon/Vercel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Docs + Defensa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Arquitectura del Sistema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Duoc UC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566928" y="1234440"/>
            <a:ext cx="2231136" cy="141732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566928" y="1417320"/>
            <a:ext cx="22311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566928" y="1801367"/>
            <a:ext cx="2231136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 18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Vite + Tailwind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Recharts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3456432" y="1234440"/>
            <a:ext cx="2231136" cy="141732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3456432" y="1417320"/>
            <a:ext cx="22311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3456432" y="1801367"/>
            <a:ext cx="2231136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Spring Boot 4.0.6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 JWT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REST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6345936" y="1234440"/>
            <a:ext cx="2231136" cy="141732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6345936" y="1417320"/>
            <a:ext cx="22311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6345936" y="1801367"/>
            <a:ext cx="2231136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 16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Neon (SSL)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 São Paulo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" name="Google Shape;292;p10"/>
          <p:cNvCxnSpPr/>
          <p:nvPr/>
        </p:nvCxnSpPr>
        <p:spPr>
          <a:xfrm>
            <a:off x="2852928" y="194310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93" name="Google Shape;293;p10"/>
          <p:cNvSpPr/>
          <p:nvPr/>
        </p:nvSpPr>
        <p:spPr>
          <a:xfrm>
            <a:off x="2706624" y="1559052"/>
            <a:ext cx="8412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HTTPS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10"/>
          <p:cNvCxnSpPr/>
          <p:nvPr/>
        </p:nvCxnSpPr>
        <p:spPr>
          <a:xfrm>
            <a:off x="5742432" y="1943100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95" name="Google Shape;295;p10"/>
          <p:cNvSpPr/>
          <p:nvPr/>
        </p:nvSpPr>
        <p:spPr>
          <a:xfrm>
            <a:off x="5596128" y="1559052"/>
            <a:ext cx="8412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lang="en-US" sz="800" b="1" i="0" u="none" strike="noStrike" cap="none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JDBC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566928" y="2816352"/>
            <a:ext cx="8010144" cy="38404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566928" y="2816352"/>
            <a:ext cx="801014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Desplegado en Cloud — Railway (API) + Neon (BD) + Vercel (UI)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566928" y="3346704"/>
            <a:ext cx="2560320" cy="1188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566928" y="3346704"/>
            <a:ext cx="2560320" cy="685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749808" y="343814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Módulos Backend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804672" y="3730752"/>
            <a:ext cx="2148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7 Controllers REST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7 Services (lógica + predicción)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Repositories Spring Data JPA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Security (JWT + roles)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3291840" y="3346704"/>
            <a:ext cx="2560320" cy="1188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3291840" y="3346704"/>
            <a:ext cx="2560320" cy="685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3474720" y="343814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Módulos Frontend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3529584" y="3730752"/>
            <a:ext cx="2148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7 páginas (CRUD, Dashboard)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KPIs con Recharts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Sistema de alertas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Login + Context Auth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6016752" y="3346704"/>
            <a:ext cx="2560320" cy="1188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6016752" y="3346704"/>
            <a:ext cx="2560320" cy="685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6199632" y="343814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6254496" y="3730752"/>
            <a:ext cx="2148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6 entidades JPA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15 categorías, 156 productos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Constraints + índices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Datos chilenos realistas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Diagrama de Casos de Uso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Duoc UC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566928" y="3913632"/>
            <a:ext cx="8010144" cy="566928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777240" y="3913632"/>
            <a:ext cx="7589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13 casos de uso agrupados en 5 módulos · 2 actores: Admin (acceso total) y Usuario (operación). Cubre autenticación, gestión de productos/categorías, ventas, dashboard, predicciones y alertas.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2" name="Google Shape;322;p11" descr="cu_ful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5714" y="792623"/>
            <a:ext cx="5801632" cy="3121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2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Modelo Entidad-Relación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Duoc UC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566928" y="3913632"/>
            <a:ext cx="8010144" cy="566928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2"/>
          <p:cNvSpPr/>
          <p:nvPr/>
        </p:nvSpPr>
        <p:spPr>
          <a:xfrm>
            <a:off x="777240" y="3913632"/>
            <a:ext cx="7589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6 entidades con relaciones 1:N y composición (Venta–DetalleVenta). Claves primarias, foráneas y restricciones únicas (email, código) definidas sobre PostgreSQL 16.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12" descr="er_ful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8188" y="733831"/>
            <a:ext cx="3080183" cy="317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3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Diagrama de Clases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3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Duoc UC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566928" y="3913632"/>
            <a:ext cx="8010144" cy="566928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3"/>
          <p:cNvSpPr/>
          <p:nvPr/>
        </p:nvSpPr>
        <p:spPr>
          <a:xfrm>
            <a:off x="777240" y="3913632"/>
            <a:ext cx="7589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Arquitectura MVC: entidades de dominio, controllers REST, services con lógica de negocio y utilitario JwtUtil para generación y validación de tokens.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8" name="Google Shape;348;p13" descr="cls_ful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750180"/>
            <a:ext cx="6914698" cy="3111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4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4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Diagrama de Secuencia — Registrar Venta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Duoc UC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566928" y="3913632"/>
            <a:ext cx="8010144" cy="566928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4"/>
          <p:cNvSpPr/>
          <p:nvPr/>
        </p:nvSpPr>
        <p:spPr>
          <a:xfrm>
            <a:off x="777240" y="3913632"/>
            <a:ext cx="7589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Flujo de 17 pasos para registrar una venta. El bloque @Transactional garantiza atomicidad: valida stock, descuenta inventario, calcula IVA 19% y persiste venta + detalles.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" name="Google Shape;361;p14" descr="seq_ful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8417" y="855997"/>
            <a:ext cx="5442857" cy="3057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5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Diagrama de Despliegue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Duoc UC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566928" y="3913632"/>
            <a:ext cx="8010144" cy="566928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777240" y="3913632"/>
            <a:ext cx="7589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Infraestructura productiva en 3 nodos Cloud: Vercel (frontend SPA), Railway (backend Spring Boot) y Neon (PostgreSQL). Comunicación vía HTTPS y JDBC.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" name="Google Shape;374;p15" descr="dep_ful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39" y="599999"/>
            <a:ext cx="7363626" cy="3313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6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6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Configuración de Producción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6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6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Duoc UC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566928" y="1188720"/>
            <a:ext cx="2560320" cy="30632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6"/>
          <p:cNvSpPr/>
          <p:nvPr/>
        </p:nvSpPr>
        <p:spPr>
          <a:xfrm>
            <a:off x="566928" y="1188720"/>
            <a:ext cx="2560320" cy="685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6"/>
          <p:cNvSpPr/>
          <p:nvPr/>
        </p:nvSpPr>
        <p:spPr>
          <a:xfrm>
            <a:off x="786384" y="1353312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Railway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786384" y="171907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Backend (PaaS)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6"/>
          <p:cNvSpPr/>
          <p:nvPr/>
        </p:nvSpPr>
        <p:spPr>
          <a:xfrm>
            <a:off x="841248" y="2103120"/>
            <a:ext cx="205740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Java 21 + Spring Boot 4.0.6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Variables de entorno seguras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Auto-deploy desde GitHub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Build con Nixpacks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3291840" y="1188720"/>
            <a:ext cx="2560320" cy="30632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6"/>
          <p:cNvSpPr/>
          <p:nvPr/>
        </p:nvSpPr>
        <p:spPr>
          <a:xfrm>
            <a:off x="3291840" y="1188720"/>
            <a:ext cx="2560320" cy="685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6"/>
          <p:cNvSpPr/>
          <p:nvPr/>
        </p:nvSpPr>
        <p:spPr>
          <a:xfrm>
            <a:off x="3511296" y="1353312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6"/>
          <p:cNvSpPr/>
          <p:nvPr/>
        </p:nvSpPr>
        <p:spPr>
          <a:xfrm>
            <a:off x="3511296" y="171907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3566160" y="2103120"/>
            <a:ext cx="205740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PostgreSQL 16 serverless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Región AWS São Paulo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Conexión SSL obligatoria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15 categorías · 156 productos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6016752" y="1188720"/>
            <a:ext cx="2560320" cy="30632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6"/>
          <p:cNvSpPr/>
          <p:nvPr/>
        </p:nvSpPr>
        <p:spPr>
          <a:xfrm>
            <a:off x="6016752" y="1188720"/>
            <a:ext cx="2560320" cy="685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6"/>
          <p:cNvSpPr/>
          <p:nvPr/>
        </p:nvSpPr>
        <p:spPr>
          <a:xfrm>
            <a:off x="6236208" y="1353312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Vercel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6236208" y="171907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Frontend (CDN)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6291072" y="2103120"/>
            <a:ext cx="205740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Distribución global por CDN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vercel.json con rewrites SPA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Build de Vite optimizado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HTTPS automático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7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7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Backup de BD y Seguridad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7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7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Duoc UC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566928" y="1188720"/>
            <a:ext cx="3931920" cy="30632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7"/>
          <p:cNvSpPr/>
          <p:nvPr/>
        </p:nvSpPr>
        <p:spPr>
          <a:xfrm>
            <a:off x="566928" y="1188720"/>
            <a:ext cx="3931920" cy="685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7"/>
          <p:cNvSpPr/>
          <p:nvPr/>
        </p:nvSpPr>
        <p:spPr>
          <a:xfrm>
            <a:off x="795528" y="1335024"/>
            <a:ext cx="3474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Estrategia de Respaldo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859536" y="1737360"/>
            <a:ext cx="338328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pg_dump / pg_restore para volcado completo de la base de datos.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70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Neon SQL Editor para inspección y consultas administrativas.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70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Branching de Neon: ramas aisladas para pruebas sin afectar producción.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70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Script seed_corregido.sh para recarga reproducible de datos iniciales.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4645152" y="1188720"/>
            <a:ext cx="3931920" cy="30632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7"/>
          <p:cNvSpPr/>
          <p:nvPr/>
        </p:nvSpPr>
        <p:spPr>
          <a:xfrm>
            <a:off x="4645152" y="1188720"/>
            <a:ext cx="3931920" cy="685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7"/>
          <p:cNvSpPr/>
          <p:nvPr/>
        </p:nvSpPr>
        <p:spPr>
          <a:xfrm>
            <a:off x="4873752" y="1335024"/>
            <a:ext cx="3474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Seguridad de Servidores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4919471" y="1773936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7"/>
          <p:cNvSpPr/>
          <p:nvPr/>
        </p:nvSpPr>
        <p:spPr>
          <a:xfrm>
            <a:off x="4919471" y="1773936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JWT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5925312" y="1719072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Tokens stateless para autenticar cada petición a la API.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4919471" y="2377440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7"/>
          <p:cNvSpPr/>
          <p:nvPr/>
        </p:nvSpPr>
        <p:spPr>
          <a:xfrm>
            <a:off x="4919471" y="237744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BCrypt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5925312" y="2322576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Hash de contraseñas con salt; nunca se almacenan en texto plano.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7"/>
          <p:cNvSpPr/>
          <p:nvPr/>
        </p:nvSpPr>
        <p:spPr>
          <a:xfrm>
            <a:off x="4919471" y="298094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7"/>
          <p:cNvSpPr/>
          <p:nvPr/>
        </p:nvSpPr>
        <p:spPr>
          <a:xfrm>
            <a:off x="4919471" y="2980944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5925312" y="292608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Orígenes permitidos restringidos al dominio del frontend.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4919471" y="3584448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7"/>
          <p:cNvSpPr/>
          <p:nvPr/>
        </p:nvSpPr>
        <p:spPr>
          <a:xfrm>
            <a:off x="4919471" y="3584448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SSL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5925312" y="3529584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Conexión cifrada obligatoria entre backend y base de datos.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8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8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Backend — Entidades y Servicios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8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Duoc UC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566928" y="1188720"/>
            <a:ext cx="3657600" cy="30632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8"/>
          <p:cNvSpPr/>
          <p:nvPr/>
        </p:nvSpPr>
        <p:spPr>
          <a:xfrm>
            <a:off x="566928" y="1188720"/>
            <a:ext cx="3657600" cy="685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18"/>
          <p:cNvSpPr/>
          <p:nvPr/>
        </p:nvSpPr>
        <p:spPr>
          <a:xfrm>
            <a:off x="795528" y="1335024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 Entidades JPA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859536" y="1737360"/>
            <a:ext cx="1481328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9525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8"/>
          <p:cNvSpPr/>
          <p:nvPr/>
        </p:nvSpPr>
        <p:spPr>
          <a:xfrm>
            <a:off x="859536" y="1737360"/>
            <a:ext cx="14813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Usuario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2487168" y="1737360"/>
            <a:ext cx="1481328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9525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8"/>
          <p:cNvSpPr/>
          <p:nvPr/>
        </p:nvSpPr>
        <p:spPr>
          <a:xfrm>
            <a:off x="2487168" y="1737360"/>
            <a:ext cx="14813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Categoría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859536" y="2450592"/>
            <a:ext cx="1481328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9525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8"/>
          <p:cNvSpPr/>
          <p:nvPr/>
        </p:nvSpPr>
        <p:spPr>
          <a:xfrm>
            <a:off x="859536" y="2450592"/>
            <a:ext cx="14813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Producto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2487168" y="2450592"/>
            <a:ext cx="1481328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9525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8"/>
          <p:cNvSpPr/>
          <p:nvPr/>
        </p:nvSpPr>
        <p:spPr>
          <a:xfrm>
            <a:off x="2487168" y="2450592"/>
            <a:ext cx="14813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Venta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859536" y="3163824"/>
            <a:ext cx="1481328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9525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8"/>
          <p:cNvSpPr/>
          <p:nvPr/>
        </p:nvSpPr>
        <p:spPr>
          <a:xfrm>
            <a:off x="859536" y="3163824"/>
            <a:ext cx="14813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DetalleVenta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2487168" y="3163824"/>
            <a:ext cx="1481328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9525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8"/>
          <p:cNvSpPr/>
          <p:nvPr/>
        </p:nvSpPr>
        <p:spPr>
          <a:xfrm>
            <a:off x="2487168" y="3163824"/>
            <a:ext cx="14813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Alerta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4407408" y="1188720"/>
            <a:ext cx="4169664" cy="30632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8"/>
          <p:cNvSpPr/>
          <p:nvPr/>
        </p:nvSpPr>
        <p:spPr>
          <a:xfrm>
            <a:off x="4407408" y="1188720"/>
            <a:ext cx="4169664" cy="685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8"/>
          <p:cNvSpPr/>
          <p:nvPr/>
        </p:nvSpPr>
        <p:spPr>
          <a:xfrm>
            <a:off x="4636008" y="1335024"/>
            <a:ext cx="371246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7 Services — Lógica de Negocio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4681728" y="1755648"/>
            <a:ext cx="91440" cy="5120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8"/>
          <p:cNvSpPr/>
          <p:nvPr/>
        </p:nvSpPr>
        <p:spPr>
          <a:xfrm>
            <a:off x="4882896" y="1755648"/>
            <a:ext cx="3438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VentaService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4882896" y="2002536"/>
            <a:ext cx="3438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@Transactional · cálculo de IVA 19%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4681728" y="2359152"/>
            <a:ext cx="91440" cy="5120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18"/>
          <p:cNvSpPr/>
          <p:nvPr/>
        </p:nvSpPr>
        <p:spPr>
          <a:xfrm>
            <a:off x="4882896" y="2359152"/>
            <a:ext cx="3438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PrediccionService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4882896" y="2606040"/>
            <a:ext cx="3438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Media móvil ponderada 4 sem (40/30/20/10%)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4681728" y="2962656"/>
            <a:ext cx="91440" cy="5120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8"/>
          <p:cNvSpPr/>
          <p:nvPr/>
        </p:nvSpPr>
        <p:spPr>
          <a:xfrm>
            <a:off x="4882896" y="2962656"/>
            <a:ext cx="3438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AlertaService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/>
          <p:nvPr/>
        </p:nvSpPr>
        <p:spPr>
          <a:xfrm>
            <a:off x="4882896" y="3209544"/>
            <a:ext cx="3438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Generación de alertas en 3 niveles de stock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4681728" y="3566160"/>
            <a:ext cx="91440" cy="5120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8"/>
          <p:cNvSpPr/>
          <p:nvPr/>
        </p:nvSpPr>
        <p:spPr>
          <a:xfrm>
            <a:off x="4882896" y="3566160"/>
            <a:ext cx="3438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DashboardService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8"/>
          <p:cNvSpPr/>
          <p:nvPr/>
        </p:nvSpPr>
        <p:spPr>
          <a:xfrm>
            <a:off x="4882896" y="3813048"/>
            <a:ext cx="3438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Agregación de KPIs en tiempo real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9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9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Backend — Endpoints REST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9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9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Duoc UC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9"/>
          <p:cNvSpPr/>
          <p:nvPr/>
        </p:nvSpPr>
        <p:spPr>
          <a:xfrm>
            <a:off x="566928" y="914400"/>
            <a:ext cx="81381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15 endpoints REST distribuidos en 7 controllers, protegidos con JWT y validación por roles.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566928" y="1371600"/>
            <a:ext cx="1892808" cy="107899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9"/>
          <p:cNvSpPr/>
          <p:nvPr/>
        </p:nvSpPr>
        <p:spPr>
          <a:xfrm>
            <a:off x="566928" y="1371600"/>
            <a:ext cx="1892808" cy="685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9"/>
          <p:cNvSpPr/>
          <p:nvPr/>
        </p:nvSpPr>
        <p:spPr>
          <a:xfrm>
            <a:off x="676656" y="1481328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000"/>
              <a:buFont typeface="Arial Black"/>
              <a:buNone/>
            </a:pPr>
            <a:r>
              <a:rPr lang="en-US" sz="2000" b="0" i="0" u="none" strike="noStrike" cap="none">
                <a:solidFill>
                  <a:srgbClr val="3B82F6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9"/>
          <p:cNvSpPr/>
          <p:nvPr/>
        </p:nvSpPr>
        <p:spPr>
          <a:xfrm>
            <a:off x="1280160" y="1554480"/>
            <a:ext cx="11155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endpoints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9"/>
          <p:cNvSpPr/>
          <p:nvPr/>
        </p:nvSpPr>
        <p:spPr>
          <a:xfrm>
            <a:off x="694944" y="1847088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AuthController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694944" y="2084832"/>
            <a:ext cx="167335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login · registro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9"/>
          <p:cNvSpPr/>
          <p:nvPr/>
        </p:nvSpPr>
        <p:spPr>
          <a:xfrm>
            <a:off x="2624328" y="1371600"/>
            <a:ext cx="1892808" cy="107899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9"/>
          <p:cNvSpPr/>
          <p:nvPr/>
        </p:nvSpPr>
        <p:spPr>
          <a:xfrm>
            <a:off x="2624328" y="1371600"/>
            <a:ext cx="1892808" cy="685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9"/>
          <p:cNvSpPr/>
          <p:nvPr/>
        </p:nvSpPr>
        <p:spPr>
          <a:xfrm>
            <a:off x="2734056" y="1481328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000"/>
              <a:buFont typeface="Arial Black"/>
              <a:buNone/>
            </a:pPr>
            <a:r>
              <a:rPr lang="en-US" sz="2000" b="0" i="0" u="none" strike="noStrike" cap="none">
                <a:solidFill>
                  <a:srgbClr val="22C55E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9"/>
          <p:cNvSpPr/>
          <p:nvPr/>
        </p:nvSpPr>
        <p:spPr>
          <a:xfrm>
            <a:off x="3337560" y="1554480"/>
            <a:ext cx="11155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endpoints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9"/>
          <p:cNvSpPr/>
          <p:nvPr/>
        </p:nvSpPr>
        <p:spPr>
          <a:xfrm>
            <a:off x="2752343" y="1847088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ProductoController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9"/>
          <p:cNvSpPr/>
          <p:nvPr/>
        </p:nvSpPr>
        <p:spPr>
          <a:xfrm>
            <a:off x="2752343" y="2084832"/>
            <a:ext cx="167335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listar · crear · actualizar · eliminar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4681728" y="1371600"/>
            <a:ext cx="1892808" cy="107899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9"/>
          <p:cNvSpPr/>
          <p:nvPr/>
        </p:nvSpPr>
        <p:spPr>
          <a:xfrm>
            <a:off x="4681728" y="1371600"/>
            <a:ext cx="1892808" cy="685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9"/>
          <p:cNvSpPr/>
          <p:nvPr/>
        </p:nvSpPr>
        <p:spPr>
          <a:xfrm>
            <a:off x="4791456" y="1481328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000"/>
              <a:buFont typeface="Arial Black"/>
              <a:buNone/>
            </a:pPr>
            <a:r>
              <a:rPr lang="en-US" sz="2000" b="0" i="0" u="none" strike="noStrike" cap="non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5394960" y="1554480"/>
            <a:ext cx="11155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endpoints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9"/>
          <p:cNvSpPr/>
          <p:nvPr/>
        </p:nvSpPr>
        <p:spPr>
          <a:xfrm>
            <a:off x="4809744" y="1847088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CategoríaController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9"/>
          <p:cNvSpPr/>
          <p:nvPr/>
        </p:nvSpPr>
        <p:spPr>
          <a:xfrm>
            <a:off x="4809744" y="2084832"/>
            <a:ext cx="167335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listar · gestionar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9"/>
          <p:cNvSpPr/>
          <p:nvPr/>
        </p:nvSpPr>
        <p:spPr>
          <a:xfrm>
            <a:off x="6739128" y="1371600"/>
            <a:ext cx="1892808" cy="107899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9"/>
          <p:cNvSpPr/>
          <p:nvPr/>
        </p:nvSpPr>
        <p:spPr>
          <a:xfrm>
            <a:off x="6739128" y="1371600"/>
            <a:ext cx="1892808" cy="685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9"/>
          <p:cNvSpPr/>
          <p:nvPr/>
        </p:nvSpPr>
        <p:spPr>
          <a:xfrm>
            <a:off x="6848856" y="1481328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000"/>
              <a:buFont typeface="Arial Black"/>
              <a:buNone/>
            </a:pPr>
            <a:r>
              <a:rPr lang="en-US" sz="2000" b="0" i="0" u="none" strike="noStrike" cap="none">
                <a:solidFill>
                  <a:srgbClr val="8B5CF6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9"/>
          <p:cNvSpPr/>
          <p:nvPr/>
        </p:nvSpPr>
        <p:spPr>
          <a:xfrm>
            <a:off x="7452360" y="1554480"/>
            <a:ext cx="11155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endpoints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9"/>
          <p:cNvSpPr/>
          <p:nvPr/>
        </p:nvSpPr>
        <p:spPr>
          <a:xfrm>
            <a:off x="6867144" y="1847088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VentaController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9"/>
          <p:cNvSpPr/>
          <p:nvPr/>
        </p:nvSpPr>
        <p:spPr>
          <a:xfrm>
            <a:off x="6867144" y="2084832"/>
            <a:ext cx="167335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registrar · listar · anular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9"/>
          <p:cNvSpPr/>
          <p:nvPr/>
        </p:nvSpPr>
        <p:spPr>
          <a:xfrm>
            <a:off x="566928" y="2596896"/>
            <a:ext cx="1892808" cy="107899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9"/>
          <p:cNvSpPr/>
          <p:nvPr/>
        </p:nvSpPr>
        <p:spPr>
          <a:xfrm>
            <a:off x="566928" y="2596896"/>
            <a:ext cx="1892808" cy="685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9"/>
          <p:cNvSpPr/>
          <p:nvPr/>
        </p:nvSpPr>
        <p:spPr>
          <a:xfrm>
            <a:off x="676656" y="2706624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000"/>
              <a:buFont typeface="Arial Black"/>
              <a:buNone/>
            </a:pPr>
            <a:r>
              <a:rPr lang="en-US" sz="2000" b="0" i="0" u="none" strike="noStrike" cap="none">
                <a:solidFill>
                  <a:srgbClr val="EF4444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9"/>
          <p:cNvSpPr/>
          <p:nvPr/>
        </p:nvSpPr>
        <p:spPr>
          <a:xfrm>
            <a:off x="1280160" y="2779776"/>
            <a:ext cx="11155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endpoints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9"/>
          <p:cNvSpPr/>
          <p:nvPr/>
        </p:nvSpPr>
        <p:spPr>
          <a:xfrm>
            <a:off x="694944" y="3072384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DashboardController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9"/>
          <p:cNvSpPr/>
          <p:nvPr/>
        </p:nvSpPr>
        <p:spPr>
          <a:xfrm>
            <a:off x="694944" y="3310127"/>
            <a:ext cx="167335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KPIs y métricas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9"/>
          <p:cNvSpPr/>
          <p:nvPr/>
        </p:nvSpPr>
        <p:spPr>
          <a:xfrm>
            <a:off x="2624328" y="2596896"/>
            <a:ext cx="1892808" cy="107899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19"/>
          <p:cNvSpPr/>
          <p:nvPr/>
        </p:nvSpPr>
        <p:spPr>
          <a:xfrm>
            <a:off x="2624328" y="2596896"/>
            <a:ext cx="1892808" cy="685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19"/>
          <p:cNvSpPr/>
          <p:nvPr/>
        </p:nvSpPr>
        <p:spPr>
          <a:xfrm>
            <a:off x="2734056" y="2706624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000"/>
              <a:buFont typeface="Arial Black"/>
              <a:buNone/>
            </a:pPr>
            <a:r>
              <a:rPr lang="en-US" sz="2000" b="0" i="0" u="none" strike="noStrike" cap="none">
                <a:solidFill>
                  <a:srgbClr val="3B82F6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9"/>
          <p:cNvSpPr/>
          <p:nvPr/>
        </p:nvSpPr>
        <p:spPr>
          <a:xfrm>
            <a:off x="3337560" y="2779776"/>
            <a:ext cx="11155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endpoints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9"/>
          <p:cNvSpPr/>
          <p:nvPr/>
        </p:nvSpPr>
        <p:spPr>
          <a:xfrm>
            <a:off x="2752343" y="3072384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AlertaController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9"/>
          <p:cNvSpPr/>
          <p:nvPr/>
        </p:nvSpPr>
        <p:spPr>
          <a:xfrm>
            <a:off x="2752343" y="3310127"/>
            <a:ext cx="167335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listar · marcar leída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9"/>
          <p:cNvSpPr/>
          <p:nvPr/>
        </p:nvSpPr>
        <p:spPr>
          <a:xfrm>
            <a:off x="4681728" y="2596896"/>
            <a:ext cx="1892808" cy="107899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9"/>
          <p:cNvSpPr/>
          <p:nvPr/>
        </p:nvSpPr>
        <p:spPr>
          <a:xfrm>
            <a:off x="4681728" y="2596896"/>
            <a:ext cx="1892808" cy="685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19"/>
          <p:cNvSpPr/>
          <p:nvPr/>
        </p:nvSpPr>
        <p:spPr>
          <a:xfrm>
            <a:off x="4791456" y="2706624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000"/>
              <a:buFont typeface="Arial Black"/>
              <a:buNone/>
            </a:pPr>
            <a:r>
              <a:rPr lang="en-US" sz="2000" b="0" i="0" u="none" strike="noStrike" cap="none">
                <a:solidFill>
                  <a:srgbClr val="22C55E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9"/>
          <p:cNvSpPr/>
          <p:nvPr/>
        </p:nvSpPr>
        <p:spPr>
          <a:xfrm>
            <a:off x="5394960" y="2779776"/>
            <a:ext cx="11155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endpoints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9"/>
          <p:cNvSpPr/>
          <p:nvPr/>
        </p:nvSpPr>
        <p:spPr>
          <a:xfrm>
            <a:off x="4809744" y="3072384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PrediccionController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9"/>
          <p:cNvSpPr/>
          <p:nvPr/>
        </p:nvSpPr>
        <p:spPr>
          <a:xfrm>
            <a:off x="4809744" y="3310127"/>
            <a:ext cx="167335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predecir demanda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9"/>
          <p:cNvSpPr/>
          <p:nvPr/>
        </p:nvSpPr>
        <p:spPr>
          <a:xfrm>
            <a:off x="6739128" y="2596896"/>
            <a:ext cx="1892808" cy="1078992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9"/>
          <p:cNvSpPr/>
          <p:nvPr/>
        </p:nvSpPr>
        <p:spPr>
          <a:xfrm>
            <a:off x="6739128" y="2724911"/>
            <a:ext cx="189280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3000"/>
              <a:buFont typeface="Arial Black"/>
              <a:buNone/>
            </a:pPr>
            <a:r>
              <a:rPr lang="en-US" sz="3000" b="0" i="0" u="none" strike="noStrike" cap="none">
                <a:solidFill>
                  <a:srgbClr val="3B82F6"/>
                </a:solidFill>
                <a:latin typeface="Arial Black"/>
                <a:ea typeface="Arial Black"/>
                <a:cs typeface="Arial Black"/>
                <a:sym typeface="Arial Black"/>
              </a:rPr>
              <a:t>15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9"/>
          <p:cNvSpPr/>
          <p:nvPr/>
        </p:nvSpPr>
        <p:spPr>
          <a:xfrm>
            <a:off x="6739128" y="3255264"/>
            <a:ext cx="18928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endpoints totales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0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20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Frontend — 7 Páginas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0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20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0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Duoc UC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0"/>
          <p:cNvSpPr/>
          <p:nvPr/>
        </p:nvSpPr>
        <p:spPr>
          <a:xfrm>
            <a:off x="539496" y="1207008"/>
            <a:ext cx="1892808" cy="12984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20"/>
          <p:cNvSpPr/>
          <p:nvPr/>
        </p:nvSpPr>
        <p:spPr>
          <a:xfrm>
            <a:off x="539496" y="1207008"/>
            <a:ext cx="1892808" cy="685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20"/>
          <p:cNvSpPr/>
          <p:nvPr/>
        </p:nvSpPr>
        <p:spPr>
          <a:xfrm>
            <a:off x="685800" y="1371600"/>
            <a:ext cx="310896" cy="3108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20"/>
          <p:cNvSpPr/>
          <p:nvPr/>
        </p:nvSpPr>
        <p:spPr>
          <a:xfrm>
            <a:off x="685800" y="13716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0"/>
          <p:cNvSpPr/>
          <p:nvPr/>
        </p:nvSpPr>
        <p:spPr>
          <a:xfrm>
            <a:off x="1069848" y="1371600"/>
            <a:ext cx="125272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Login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0"/>
          <p:cNvSpPr/>
          <p:nvPr/>
        </p:nvSpPr>
        <p:spPr>
          <a:xfrm>
            <a:off x="704088" y="1755648"/>
            <a:ext cx="158191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Autenticación JWT, token en localStorage.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0"/>
          <p:cNvSpPr/>
          <p:nvPr/>
        </p:nvSpPr>
        <p:spPr>
          <a:xfrm>
            <a:off x="2596896" y="1207008"/>
            <a:ext cx="1892808" cy="12984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20"/>
          <p:cNvSpPr/>
          <p:nvPr/>
        </p:nvSpPr>
        <p:spPr>
          <a:xfrm>
            <a:off x="2596896" y="1207008"/>
            <a:ext cx="1892808" cy="685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20"/>
          <p:cNvSpPr/>
          <p:nvPr/>
        </p:nvSpPr>
        <p:spPr>
          <a:xfrm>
            <a:off x="2743200" y="1371600"/>
            <a:ext cx="310896" cy="31089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20"/>
          <p:cNvSpPr/>
          <p:nvPr/>
        </p:nvSpPr>
        <p:spPr>
          <a:xfrm>
            <a:off x="2743200" y="13716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0"/>
          <p:cNvSpPr/>
          <p:nvPr/>
        </p:nvSpPr>
        <p:spPr>
          <a:xfrm>
            <a:off x="3127248" y="1371600"/>
            <a:ext cx="125272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0"/>
          <p:cNvSpPr/>
          <p:nvPr/>
        </p:nvSpPr>
        <p:spPr>
          <a:xfrm>
            <a:off x="2761488" y="1755648"/>
            <a:ext cx="158191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4 KPIs + BarChart + PieChart (Recharts).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0"/>
          <p:cNvSpPr/>
          <p:nvPr/>
        </p:nvSpPr>
        <p:spPr>
          <a:xfrm>
            <a:off x="4654296" y="1207008"/>
            <a:ext cx="1892808" cy="12984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20"/>
          <p:cNvSpPr/>
          <p:nvPr/>
        </p:nvSpPr>
        <p:spPr>
          <a:xfrm>
            <a:off x="4654296" y="1207008"/>
            <a:ext cx="1892808" cy="685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20"/>
          <p:cNvSpPr/>
          <p:nvPr/>
        </p:nvSpPr>
        <p:spPr>
          <a:xfrm>
            <a:off x="4800600" y="1371600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20"/>
          <p:cNvSpPr/>
          <p:nvPr/>
        </p:nvSpPr>
        <p:spPr>
          <a:xfrm>
            <a:off x="4800600" y="13716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0"/>
          <p:cNvSpPr/>
          <p:nvPr/>
        </p:nvSpPr>
        <p:spPr>
          <a:xfrm>
            <a:off x="5184648" y="1371600"/>
            <a:ext cx="125272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Productos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0"/>
          <p:cNvSpPr/>
          <p:nvPr/>
        </p:nvSpPr>
        <p:spPr>
          <a:xfrm>
            <a:off x="4818888" y="1755648"/>
            <a:ext cx="158191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CRUD modal, búsqueda, paginación, badges de stock.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0"/>
          <p:cNvSpPr/>
          <p:nvPr/>
        </p:nvSpPr>
        <p:spPr>
          <a:xfrm>
            <a:off x="6711696" y="1207008"/>
            <a:ext cx="1892808" cy="12984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20"/>
          <p:cNvSpPr/>
          <p:nvPr/>
        </p:nvSpPr>
        <p:spPr>
          <a:xfrm>
            <a:off x="6711696" y="1207008"/>
            <a:ext cx="1892808" cy="685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20"/>
          <p:cNvSpPr/>
          <p:nvPr/>
        </p:nvSpPr>
        <p:spPr>
          <a:xfrm>
            <a:off x="6858000" y="1371600"/>
            <a:ext cx="310896" cy="31089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0"/>
          <p:cNvSpPr/>
          <p:nvPr/>
        </p:nvSpPr>
        <p:spPr>
          <a:xfrm>
            <a:off x="6858000" y="13716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0"/>
          <p:cNvSpPr/>
          <p:nvPr/>
        </p:nvSpPr>
        <p:spPr>
          <a:xfrm>
            <a:off x="7242048" y="1371600"/>
            <a:ext cx="125272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Categorías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0"/>
          <p:cNvSpPr/>
          <p:nvPr/>
        </p:nvSpPr>
        <p:spPr>
          <a:xfrm>
            <a:off x="6876288" y="1755648"/>
            <a:ext cx="158191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Vista en cards con contador de productos.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0"/>
          <p:cNvSpPr/>
          <p:nvPr/>
        </p:nvSpPr>
        <p:spPr>
          <a:xfrm>
            <a:off x="1568196" y="2670048"/>
            <a:ext cx="1892808" cy="12984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0"/>
          <p:cNvSpPr/>
          <p:nvPr/>
        </p:nvSpPr>
        <p:spPr>
          <a:xfrm>
            <a:off x="1568196" y="2670048"/>
            <a:ext cx="1892808" cy="685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0"/>
          <p:cNvSpPr/>
          <p:nvPr/>
        </p:nvSpPr>
        <p:spPr>
          <a:xfrm>
            <a:off x="1714500" y="2834640"/>
            <a:ext cx="310896" cy="31089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20"/>
          <p:cNvSpPr/>
          <p:nvPr/>
        </p:nvSpPr>
        <p:spPr>
          <a:xfrm>
            <a:off x="1714500" y="283464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0"/>
          <p:cNvSpPr/>
          <p:nvPr/>
        </p:nvSpPr>
        <p:spPr>
          <a:xfrm>
            <a:off x="2098548" y="2834640"/>
            <a:ext cx="125272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Ventas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0"/>
          <p:cNvSpPr/>
          <p:nvPr/>
        </p:nvSpPr>
        <p:spPr>
          <a:xfrm>
            <a:off x="1732788" y="3218688"/>
            <a:ext cx="158191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Multi-producto, cálculo de IVA, anulación.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0"/>
          <p:cNvSpPr/>
          <p:nvPr/>
        </p:nvSpPr>
        <p:spPr>
          <a:xfrm>
            <a:off x="3625596" y="2670048"/>
            <a:ext cx="1892808" cy="12984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20"/>
          <p:cNvSpPr/>
          <p:nvPr/>
        </p:nvSpPr>
        <p:spPr>
          <a:xfrm>
            <a:off x="3625596" y="2670048"/>
            <a:ext cx="1892808" cy="685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20"/>
          <p:cNvSpPr/>
          <p:nvPr/>
        </p:nvSpPr>
        <p:spPr>
          <a:xfrm>
            <a:off x="3771900" y="2834640"/>
            <a:ext cx="310896" cy="3108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20"/>
          <p:cNvSpPr/>
          <p:nvPr/>
        </p:nvSpPr>
        <p:spPr>
          <a:xfrm>
            <a:off x="3771900" y="283464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0"/>
          <p:cNvSpPr/>
          <p:nvPr/>
        </p:nvSpPr>
        <p:spPr>
          <a:xfrm>
            <a:off x="4155948" y="2834640"/>
            <a:ext cx="125272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Alertas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0"/>
          <p:cNvSpPr/>
          <p:nvPr/>
        </p:nvSpPr>
        <p:spPr>
          <a:xfrm>
            <a:off x="3790188" y="3218688"/>
            <a:ext cx="158191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3 niveles, badge con polling cada 30 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0"/>
          <p:cNvSpPr/>
          <p:nvPr/>
        </p:nvSpPr>
        <p:spPr>
          <a:xfrm>
            <a:off x="5682996" y="2670048"/>
            <a:ext cx="1892808" cy="12984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20"/>
          <p:cNvSpPr/>
          <p:nvPr/>
        </p:nvSpPr>
        <p:spPr>
          <a:xfrm>
            <a:off x="5682996" y="2670048"/>
            <a:ext cx="1892808" cy="685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20"/>
          <p:cNvSpPr/>
          <p:nvPr/>
        </p:nvSpPr>
        <p:spPr>
          <a:xfrm>
            <a:off x="5829300" y="2834640"/>
            <a:ext cx="310896" cy="31089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20"/>
          <p:cNvSpPr/>
          <p:nvPr/>
        </p:nvSpPr>
        <p:spPr>
          <a:xfrm>
            <a:off x="5829300" y="283464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0"/>
          <p:cNvSpPr/>
          <p:nvPr/>
        </p:nvSpPr>
        <p:spPr>
          <a:xfrm>
            <a:off x="6213348" y="2834640"/>
            <a:ext cx="125272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Predicciones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0"/>
          <p:cNvSpPr/>
          <p:nvPr/>
        </p:nvSpPr>
        <p:spPr>
          <a:xfrm>
            <a:off x="5847588" y="3218688"/>
            <a:ext cx="158191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Caché persistente, timeout extendido 180 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1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21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Plan de Pruebas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1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21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1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Duoc UC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1"/>
          <p:cNvSpPr/>
          <p:nvPr/>
        </p:nvSpPr>
        <p:spPr>
          <a:xfrm>
            <a:off x="566928" y="1188720"/>
            <a:ext cx="1892808" cy="914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21"/>
          <p:cNvSpPr/>
          <p:nvPr/>
        </p:nvSpPr>
        <p:spPr>
          <a:xfrm>
            <a:off x="566928" y="1243584"/>
            <a:ext cx="189280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3000"/>
              <a:buFont typeface="Arial Black"/>
              <a:buNone/>
            </a:pPr>
            <a:r>
              <a:rPr lang="en-US" sz="3000" b="0" i="0" u="none" strike="noStrike" cap="none">
                <a:solidFill>
                  <a:srgbClr val="3B82F6"/>
                </a:solidFill>
                <a:latin typeface="Arial Black"/>
                <a:ea typeface="Arial Black"/>
                <a:cs typeface="Arial Black"/>
                <a:sym typeface="Arial Black"/>
              </a:rPr>
              <a:t>40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1"/>
          <p:cNvSpPr/>
          <p:nvPr/>
        </p:nvSpPr>
        <p:spPr>
          <a:xfrm>
            <a:off x="566928" y="1755648"/>
            <a:ext cx="18928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casos ejecutados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1"/>
          <p:cNvSpPr/>
          <p:nvPr/>
        </p:nvSpPr>
        <p:spPr>
          <a:xfrm>
            <a:off x="2624328" y="1188720"/>
            <a:ext cx="1892808" cy="914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21"/>
          <p:cNvSpPr/>
          <p:nvPr/>
        </p:nvSpPr>
        <p:spPr>
          <a:xfrm>
            <a:off x="2624328" y="1243584"/>
            <a:ext cx="189280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3000"/>
              <a:buFont typeface="Arial Black"/>
              <a:buNone/>
            </a:pPr>
            <a:r>
              <a:rPr lang="en-US" sz="3000" b="0" i="0" u="none" strike="noStrike" cap="none">
                <a:solidFill>
                  <a:srgbClr val="22C55E"/>
                </a:solidFill>
                <a:latin typeface="Arial Black"/>
                <a:ea typeface="Arial Black"/>
                <a:cs typeface="Arial Black"/>
                <a:sym typeface="Arial Black"/>
              </a:rPr>
              <a:t>39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1"/>
          <p:cNvSpPr/>
          <p:nvPr/>
        </p:nvSpPr>
        <p:spPr>
          <a:xfrm>
            <a:off x="2624328" y="1755648"/>
            <a:ext cx="18928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casos aprobados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1"/>
          <p:cNvSpPr/>
          <p:nvPr/>
        </p:nvSpPr>
        <p:spPr>
          <a:xfrm>
            <a:off x="4681728" y="1188720"/>
            <a:ext cx="1892808" cy="914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21"/>
          <p:cNvSpPr/>
          <p:nvPr/>
        </p:nvSpPr>
        <p:spPr>
          <a:xfrm>
            <a:off x="4681728" y="1243584"/>
            <a:ext cx="189280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000"/>
              <a:buFont typeface="Arial Black"/>
              <a:buNone/>
            </a:pPr>
            <a:r>
              <a:rPr lang="en-US" sz="3000" b="0" i="0" u="none" strike="noStrike" cap="non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1"/>
          <p:cNvSpPr/>
          <p:nvPr/>
        </p:nvSpPr>
        <p:spPr>
          <a:xfrm>
            <a:off x="4681728" y="1755648"/>
            <a:ext cx="18928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caso observado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1"/>
          <p:cNvSpPr/>
          <p:nvPr/>
        </p:nvSpPr>
        <p:spPr>
          <a:xfrm>
            <a:off x="6739128" y="1188720"/>
            <a:ext cx="1892808" cy="914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21"/>
          <p:cNvSpPr/>
          <p:nvPr/>
        </p:nvSpPr>
        <p:spPr>
          <a:xfrm>
            <a:off x="6739128" y="1243584"/>
            <a:ext cx="189280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3000"/>
              <a:buFont typeface="Arial Black"/>
              <a:buNone/>
            </a:pPr>
            <a:r>
              <a:rPr lang="en-US" sz="3000" b="0" i="0" u="none" strike="noStrike" cap="none">
                <a:solidFill>
                  <a:srgbClr val="8B5CF6"/>
                </a:solidFill>
                <a:latin typeface="Arial Black"/>
                <a:ea typeface="Arial Black"/>
                <a:cs typeface="Arial Black"/>
                <a:sym typeface="Arial Black"/>
              </a:rPr>
              <a:t>97%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1"/>
          <p:cNvSpPr/>
          <p:nvPr/>
        </p:nvSpPr>
        <p:spPr>
          <a:xfrm>
            <a:off x="6739128" y="1755648"/>
            <a:ext cx="18928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tasa de éxito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99" name="Google Shape;599;p21"/>
          <p:cNvGraphicFramePr/>
          <p:nvPr/>
        </p:nvGraphicFramePr>
        <p:xfrm>
          <a:off x="566928" y="2286000"/>
          <a:ext cx="8010150" cy="1865400"/>
        </p:xfrm>
        <a:graphic>
          <a:graphicData uri="http://schemas.openxmlformats.org/drawingml/2006/table">
            <a:tbl>
              <a:tblPr>
                <a:noFill/>
                <a:tableStyleId>{642ADCDC-673D-45D1-ABA1-F4C6B78DAAB9}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Suite de pruebas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Casos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Resultado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Autenticación (login, registro, JWT, roles)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aprobados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Productos (CRUD, búsqueda, validaciones)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aprobados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Ventas (registro, IVA, stock, anulación)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aprobados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Dashboard / Alertas / Predicciones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aprobados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Integración Cloud (Vercel, Railway, Neon)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aprobados · 1 observado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00" name="Google Shape;600;p21"/>
          <p:cNvSpPr/>
          <p:nvPr/>
        </p:nvSpPr>
        <p:spPr>
          <a:xfrm>
            <a:off x="566928" y="4224528"/>
            <a:ext cx="8010144" cy="36576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21"/>
          <p:cNvSpPr/>
          <p:nvPr/>
        </p:nvSpPr>
        <p:spPr>
          <a:xfrm>
            <a:off x="777240" y="4224528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Observación: el caso pendiente corresponde a la zona horaria de Railway (UTC) frente a la hora de Chile.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2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22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Estado de Avance — Módulos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2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22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2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Duoc UC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2"/>
          <p:cNvSpPr/>
          <p:nvPr/>
        </p:nvSpPr>
        <p:spPr>
          <a:xfrm>
            <a:off x="566928" y="1115568"/>
            <a:ext cx="8010144" cy="5669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22"/>
          <p:cNvSpPr/>
          <p:nvPr/>
        </p:nvSpPr>
        <p:spPr>
          <a:xfrm>
            <a:off x="841248" y="1115568"/>
            <a:ext cx="74980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8 / 8 </a:t>
            </a:r>
            <a:r>
              <a:rPr lang="en-US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módulos completados — proyecto 100% funcional en ambiente Cloud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14" name="Google Shape;614;p22"/>
          <p:cNvGraphicFramePr/>
          <p:nvPr/>
        </p:nvGraphicFramePr>
        <p:xfrm>
          <a:off x="566928" y="1874520"/>
          <a:ext cx="8010150" cy="2432325"/>
        </p:xfrm>
        <a:graphic>
          <a:graphicData uri="http://schemas.openxmlformats.org/drawingml/2006/table">
            <a:tbl>
              <a:tblPr>
                <a:noFill/>
                <a:tableStyleId>{642ADCDC-673D-45D1-ABA1-F4C6B78DAAB9}</a:tableStyleId>
              </a:tblPr>
              <a:tblGrid>
                <a:gridCol w="301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Funcionalidad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Objetivo específico asociado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Estado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CRUD productos, categorías y ventas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OE1 — API REST segura (JWT)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Completo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Dashboard con KPIs y gráficos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OE2 — Dashboard en tiempo real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Completo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Predicción de demanda de stock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OE3 — Media móvil ponderada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Completo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Sistema de alertas de reposición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OE4 — Alertas automáticas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Completo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Autenticación y seguridad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OE1 — JWT + BCrypt + CORS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Completo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Despliegue Cloud productivo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Todos — Railway / Neon / Vercel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Completo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50800" marB="508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3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23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Estado de Avance — KPIs y URLs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3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23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3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Duoc UC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3"/>
          <p:cNvSpPr/>
          <p:nvPr/>
        </p:nvSpPr>
        <p:spPr>
          <a:xfrm>
            <a:off x="566928" y="1170432"/>
            <a:ext cx="1892808" cy="8686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23"/>
          <p:cNvSpPr/>
          <p:nvPr/>
        </p:nvSpPr>
        <p:spPr>
          <a:xfrm>
            <a:off x="566928" y="1170432"/>
            <a:ext cx="73152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23"/>
          <p:cNvSpPr/>
          <p:nvPr/>
        </p:nvSpPr>
        <p:spPr>
          <a:xfrm>
            <a:off x="713232" y="1234440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200"/>
              <a:buFont typeface="Arial Black"/>
              <a:buNone/>
            </a:pPr>
            <a:r>
              <a:rPr lang="en-US" sz="2200" b="0" i="0" u="none" strike="noStrike" cap="none">
                <a:solidFill>
                  <a:srgbClr val="3B82F6"/>
                </a:solidFill>
                <a:latin typeface="Arial Black"/>
                <a:ea typeface="Arial Black"/>
                <a:cs typeface="Arial Black"/>
                <a:sym typeface="Arial Black"/>
              </a:rPr>
              <a:t>18/18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3"/>
          <p:cNvSpPr/>
          <p:nvPr/>
        </p:nvSpPr>
        <p:spPr>
          <a:xfrm>
            <a:off x="731520" y="1682496"/>
            <a:ext cx="161848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requisitos func.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3"/>
          <p:cNvSpPr/>
          <p:nvPr/>
        </p:nvSpPr>
        <p:spPr>
          <a:xfrm>
            <a:off x="2624328" y="1170432"/>
            <a:ext cx="1892808" cy="8686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23"/>
          <p:cNvSpPr/>
          <p:nvPr/>
        </p:nvSpPr>
        <p:spPr>
          <a:xfrm>
            <a:off x="2624328" y="1170432"/>
            <a:ext cx="73152" cy="8686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23"/>
          <p:cNvSpPr/>
          <p:nvPr/>
        </p:nvSpPr>
        <p:spPr>
          <a:xfrm>
            <a:off x="2770632" y="1234440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200"/>
              <a:buFont typeface="Arial Black"/>
              <a:buNone/>
            </a:pPr>
            <a:r>
              <a:rPr lang="en-US" sz="2200" b="0" i="0" u="none" strike="noStrike" cap="none">
                <a:solidFill>
                  <a:srgbClr val="22C55E"/>
                </a:solidFill>
                <a:latin typeface="Arial Black"/>
                <a:ea typeface="Arial Black"/>
                <a:cs typeface="Arial Black"/>
                <a:sym typeface="Arial Black"/>
              </a:rPr>
              <a:t>15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3"/>
          <p:cNvSpPr/>
          <p:nvPr/>
        </p:nvSpPr>
        <p:spPr>
          <a:xfrm>
            <a:off x="2788920" y="1682496"/>
            <a:ext cx="161848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endpoints REST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3"/>
          <p:cNvSpPr/>
          <p:nvPr/>
        </p:nvSpPr>
        <p:spPr>
          <a:xfrm>
            <a:off x="4681728" y="1170432"/>
            <a:ext cx="1892808" cy="8686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23"/>
          <p:cNvSpPr/>
          <p:nvPr/>
        </p:nvSpPr>
        <p:spPr>
          <a:xfrm>
            <a:off x="4681728" y="1170432"/>
            <a:ext cx="7315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23"/>
          <p:cNvSpPr/>
          <p:nvPr/>
        </p:nvSpPr>
        <p:spPr>
          <a:xfrm>
            <a:off x="4828032" y="1234440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200"/>
              <a:buFont typeface="Arial Black"/>
              <a:buNone/>
            </a:pPr>
            <a:r>
              <a:rPr lang="en-US" sz="2200" b="0" i="0" u="none" strike="noStrike" cap="non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3"/>
          <p:cNvSpPr/>
          <p:nvPr/>
        </p:nvSpPr>
        <p:spPr>
          <a:xfrm>
            <a:off x="4846320" y="1682496"/>
            <a:ext cx="161848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entidades JPA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3"/>
          <p:cNvSpPr/>
          <p:nvPr/>
        </p:nvSpPr>
        <p:spPr>
          <a:xfrm>
            <a:off x="6739128" y="1170432"/>
            <a:ext cx="1892808" cy="8686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23"/>
          <p:cNvSpPr/>
          <p:nvPr/>
        </p:nvSpPr>
        <p:spPr>
          <a:xfrm>
            <a:off x="6739128" y="1170432"/>
            <a:ext cx="73152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23"/>
          <p:cNvSpPr/>
          <p:nvPr/>
        </p:nvSpPr>
        <p:spPr>
          <a:xfrm>
            <a:off x="6885432" y="1234440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00"/>
              <a:buFont typeface="Arial Black"/>
              <a:buNone/>
            </a:pPr>
            <a:r>
              <a:rPr lang="en-US" sz="2200" b="0" i="0" u="none" strike="noStrike" cap="none">
                <a:solidFill>
                  <a:srgbClr val="8B5CF6"/>
                </a:solidFill>
                <a:latin typeface="Arial Black"/>
                <a:ea typeface="Arial Black"/>
                <a:cs typeface="Arial Black"/>
                <a:sym typeface="Arial Black"/>
              </a:rPr>
              <a:t>7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3"/>
          <p:cNvSpPr/>
          <p:nvPr/>
        </p:nvSpPr>
        <p:spPr>
          <a:xfrm>
            <a:off x="6903720" y="1682496"/>
            <a:ext cx="161848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páginas frontend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3"/>
          <p:cNvSpPr/>
          <p:nvPr/>
        </p:nvSpPr>
        <p:spPr>
          <a:xfrm>
            <a:off x="566928" y="2185416"/>
            <a:ext cx="1892808" cy="8686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23"/>
          <p:cNvSpPr/>
          <p:nvPr/>
        </p:nvSpPr>
        <p:spPr>
          <a:xfrm>
            <a:off x="566928" y="2185416"/>
            <a:ext cx="73152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23"/>
          <p:cNvSpPr/>
          <p:nvPr/>
        </p:nvSpPr>
        <p:spPr>
          <a:xfrm>
            <a:off x="713232" y="2249424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200"/>
              <a:buFont typeface="Arial Black"/>
              <a:buNone/>
            </a:pPr>
            <a:r>
              <a:rPr lang="en-US" sz="2200" b="0" i="0" u="none" strike="noStrike" cap="none">
                <a:solidFill>
                  <a:srgbClr val="EF4444"/>
                </a:solidFill>
                <a:latin typeface="Arial Black"/>
                <a:ea typeface="Arial Black"/>
                <a:cs typeface="Arial Black"/>
                <a:sym typeface="Arial Black"/>
              </a:rPr>
              <a:t>156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3"/>
          <p:cNvSpPr/>
          <p:nvPr/>
        </p:nvSpPr>
        <p:spPr>
          <a:xfrm>
            <a:off x="731520" y="2697480"/>
            <a:ext cx="161848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productos cargados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3"/>
          <p:cNvSpPr/>
          <p:nvPr/>
        </p:nvSpPr>
        <p:spPr>
          <a:xfrm>
            <a:off x="2624328" y="2185416"/>
            <a:ext cx="1892808" cy="8686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23"/>
          <p:cNvSpPr/>
          <p:nvPr/>
        </p:nvSpPr>
        <p:spPr>
          <a:xfrm>
            <a:off x="2624328" y="2185416"/>
            <a:ext cx="73152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23"/>
          <p:cNvSpPr/>
          <p:nvPr/>
        </p:nvSpPr>
        <p:spPr>
          <a:xfrm>
            <a:off x="2770632" y="2249424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200"/>
              <a:buFont typeface="Arial Black"/>
              <a:buNone/>
            </a:pPr>
            <a:r>
              <a:rPr lang="en-US" sz="2200" b="0" i="0" u="none" strike="noStrike" cap="none">
                <a:solidFill>
                  <a:srgbClr val="3B82F6"/>
                </a:solidFill>
                <a:latin typeface="Arial Black"/>
                <a:ea typeface="Arial Black"/>
                <a:cs typeface="Arial Black"/>
                <a:sym typeface="Arial Black"/>
              </a:rPr>
              <a:t>40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3"/>
          <p:cNvSpPr/>
          <p:nvPr/>
        </p:nvSpPr>
        <p:spPr>
          <a:xfrm>
            <a:off x="2788920" y="2697480"/>
            <a:ext cx="161848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pruebas ejecutadas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3"/>
          <p:cNvSpPr/>
          <p:nvPr/>
        </p:nvSpPr>
        <p:spPr>
          <a:xfrm>
            <a:off x="4681728" y="2185416"/>
            <a:ext cx="1892808" cy="8686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23"/>
          <p:cNvSpPr/>
          <p:nvPr/>
        </p:nvSpPr>
        <p:spPr>
          <a:xfrm>
            <a:off x="4681728" y="2185416"/>
            <a:ext cx="73152" cy="8686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23"/>
          <p:cNvSpPr/>
          <p:nvPr/>
        </p:nvSpPr>
        <p:spPr>
          <a:xfrm>
            <a:off x="4828032" y="2249424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200"/>
              <a:buFont typeface="Arial Black"/>
              <a:buNone/>
            </a:pPr>
            <a:r>
              <a:rPr lang="en-US" sz="2200" b="0" i="0" u="none" strike="noStrike" cap="none">
                <a:solidFill>
                  <a:srgbClr val="22C55E"/>
                </a:solidFill>
                <a:latin typeface="Arial Black"/>
                <a:ea typeface="Arial Black"/>
                <a:cs typeface="Arial Black"/>
                <a:sym typeface="Arial Black"/>
              </a:rPr>
              <a:t>20+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3"/>
          <p:cNvSpPr/>
          <p:nvPr/>
        </p:nvSpPr>
        <p:spPr>
          <a:xfrm>
            <a:off x="4846320" y="2697480"/>
            <a:ext cx="161848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commits en GitHub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3"/>
          <p:cNvSpPr/>
          <p:nvPr/>
        </p:nvSpPr>
        <p:spPr>
          <a:xfrm>
            <a:off x="6739128" y="2185416"/>
            <a:ext cx="1892808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23"/>
          <p:cNvSpPr/>
          <p:nvPr/>
        </p:nvSpPr>
        <p:spPr>
          <a:xfrm>
            <a:off x="6739128" y="2331720"/>
            <a:ext cx="189280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PROYECTO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PRODUCCIÓN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3"/>
          <p:cNvSpPr/>
          <p:nvPr/>
        </p:nvSpPr>
        <p:spPr>
          <a:xfrm>
            <a:off x="566928" y="3246120"/>
            <a:ext cx="8010144" cy="1005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23"/>
          <p:cNvSpPr/>
          <p:nvPr/>
        </p:nvSpPr>
        <p:spPr>
          <a:xfrm>
            <a:off x="777240" y="33375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URLs de Producción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3"/>
          <p:cNvSpPr/>
          <p:nvPr/>
        </p:nvSpPr>
        <p:spPr>
          <a:xfrm>
            <a:off x="777240" y="363016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Frontend: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3"/>
          <p:cNvSpPr/>
          <p:nvPr/>
        </p:nvSpPr>
        <p:spPr>
          <a:xfrm>
            <a:off x="2103120" y="3630168"/>
            <a:ext cx="6309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inventario-frontend-kappa.vercel.app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3"/>
          <p:cNvSpPr/>
          <p:nvPr/>
        </p:nvSpPr>
        <p:spPr>
          <a:xfrm>
            <a:off x="777240" y="3849624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Backend: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3"/>
          <p:cNvSpPr/>
          <p:nvPr/>
        </p:nvSpPr>
        <p:spPr>
          <a:xfrm>
            <a:off x="2103120" y="3849624"/>
            <a:ext cx="6309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inventario-backend-production-b571.up.railway.app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3"/>
          <p:cNvSpPr/>
          <p:nvPr/>
        </p:nvSpPr>
        <p:spPr>
          <a:xfrm>
            <a:off x="777240" y="406908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Repositorio: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3"/>
          <p:cNvSpPr/>
          <p:nvPr/>
        </p:nvSpPr>
        <p:spPr>
          <a:xfrm>
            <a:off x="2103120" y="4069080"/>
            <a:ext cx="6309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github.com/gubynousky/proyecto-titulo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4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24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4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24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4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Duoc UC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4"/>
          <p:cNvSpPr/>
          <p:nvPr/>
        </p:nvSpPr>
        <p:spPr>
          <a:xfrm>
            <a:off x="566928" y="1188720"/>
            <a:ext cx="3931920" cy="30632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24"/>
          <p:cNvSpPr/>
          <p:nvPr/>
        </p:nvSpPr>
        <p:spPr>
          <a:xfrm>
            <a:off x="566928" y="1188720"/>
            <a:ext cx="3931920" cy="685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24"/>
          <p:cNvSpPr/>
          <p:nvPr/>
        </p:nvSpPr>
        <p:spPr>
          <a:xfrm>
            <a:off x="795528" y="1335024"/>
            <a:ext cx="34747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Logros del Proyecto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4"/>
          <p:cNvSpPr/>
          <p:nvPr/>
        </p:nvSpPr>
        <p:spPr>
          <a:xfrm>
            <a:off x="859536" y="1719072"/>
            <a:ext cx="338328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Sistema 100% funcional desplegado en ambiente Cloud productivo.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Los 18 requisitos funcionales fueron cumplidos en su totalidad.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Arquitectura MVC robusta y mantenible en backend y frontend.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El modelo PaaS resultó más simple y económico que IaaS para una pyme.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La media móvil ponderada es adecuada para predecir demanda en pymes.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JWT + BCrypt + CORS aportan seguridad alineada al estándar de la industria.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4"/>
          <p:cNvSpPr/>
          <p:nvPr/>
        </p:nvSpPr>
        <p:spPr>
          <a:xfrm>
            <a:off x="4645152" y="1188720"/>
            <a:ext cx="3931920" cy="30632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411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24"/>
          <p:cNvSpPr/>
          <p:nvPr/>
        </p:nvSpPr>
        <p:spPr>
          <a:xfrm>
            <a:off x="4645152" y="1188720"/>
            <a:ext cx="3931920" cy="685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24"/>
          <p:cNvSpPr/>
          <p:nvPr/>
        </p:nvSpPr>
        <p:spPr>
          <a:xfrm>
            <a:off x="4873752" y="1335024"/>
            <a:ext cx="34747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Lecciones Aprendidas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4"/>
          <p:cNvSpPr/>
          <p:nvPr/>
        </p:nvSpPr>
        <p:spPr>
          <a:xfrm>
            <a:off x="4937760" y="1719072"/>
            <a:ext cx="338328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Latencia de Neon: resuelta con caché persistente de predicciones.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Zona horaria UTC de Railway frente a la hora local de Chile.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CORS requirió varias iteraciones hasta ajustar los orígenes.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git subtree facilitó el despliegue separado de back y front.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Datos chilenos realistas mejoraron las pruebas y la demostración.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Variables sensibles gestionadas en runtime, fuera del repositorio.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2124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1922</Words>
  <Application>Microsoft Office PowerPoint</Application>
  <PresentationFormat>Presentación en pantalla (16:9)</PresentationFormat>
  <Paragraphs>482</Paragraphs>
  <Slides>25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Calibri</vt:lpstr>
      <vt:lpstr>Arial Black</vt:lpstr>
      <vt:lpstr>Arial</vt:lpstr>
      <vt:lpstr>Office Theme</vt:lpstr>
      <vt:lpstr>Estado de Avance N°2 Sistema Inteligente de Gestión de Inventario para Pymes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Ruby Estrella Martínez Salas</dc:creator>
  <cp:lastModifiedBy>RUBY MARTINEZ MARTINEZ SALAS</cp:lastModifiedBy>
  <cp:revision>1</cp:revision>
  <dcterms:created xsi:type="dcterms:W3CDTF">2026-05-26T04:56:27Z</dcterms:created>
  <dcterms:modified xsi:type="dcterms:W3CDTF">2026-05-27T02:03:05Z</dcterms:modified>
</cp:coreProperties>
</file>