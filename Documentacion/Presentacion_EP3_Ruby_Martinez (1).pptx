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2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8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54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8c3e1dedf_0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g3a8c3e1de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principal">
  <p:cSld name="PORTADA principa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g3a8c3e1dedf_0_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94290" y="1347606"/>
            <a:ext cx="53224" cy="244829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g3a8c3e1dedf_0_21"/>
          <p:cNvSpPr/>
          <p:nvPr/>
        </p:nvSpPr>
        <p:spPr>
          <a:xfrm>
            <a:off x="4458745" y="462516"/>
            <a:ext cx="4256100" cy="4250400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3a8c3e1dedf_0_21"/>
          <p:cNvSpPr/>
          <p:nvPr/>
        </p:nvSpPr>
        <p:spPr>
          <a:xfrm>
            <a:off x="4798912" y="2091485"/>
            <a:ext cx="221100" cy="22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15;g3a8c3e1dedf_0_21"/>
          <p:cNvCxnSpPr/>
          <p:nvPr/>
        </p:nvCxnSpPr>
        <p:spPr>
          <a:xfrm>
            <a:off x="5247167" y="3079865"/>
            <a:ext cx="30861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" name="Google Shape;16;g3a8c3e1dedf_0_21"/>
          <p:cNvSpPr txBox="1">
            <a:spLocks noGrp="1"/>
          </p:cNvSpPr>
          <p:nvPr>
            <p:ph type="title"/>
          </p:nvPr>
        </p:nvSpPr>
        <p:spPr>
          <a:xfrm>
            <a:off x="5186857" y="1951058"/>
            <a:ext cx="32835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g3a8c3e1dedf_0_21"/>
          <p:cNvSpPr txBox="1">
            <a:spLocks noGrp="1"/>
          </p:cNvSpPr>
          <p:nvPr>
            <p:ph type="subTitle" idx="1"/>
          </p:nvPr>
        </p:nvSpPr>
        <p:spPr>
          <a:xfrm>
            <a:off x="5202964" y="3229131"/>
            <a:ext cx="3267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8" name="Google Shape;18;g3a8c3e1dedf_0_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76609" y="905221"/>
            <a:ext cx="2531930" cy="406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474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9144000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1927197" y="4084221"/>
            <a:ext cx="5289608" cy="42260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2885" y="1718734"/>
            <a:ext cx="2998231" cy="97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03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8c3e1dedf_0_0"/>
          <p:cNvSpPr txBox="1">
            <a:spLocks noGrp="1"/>
          </p:cNvSpPr>
          <p:nvPr>
            <p:ph type="title"/>
          </p:nvPr>
        </p:nvSpPr>
        <p:spPr>
          <a:xfrm>
            <a:off x="5186857" y="1951058"/>
            <a:ext cx="3283500" cy="9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Estado de Avance</a:t>
            </a:r>
            <a:br>
              <a:rPr lang="en-US" sz="2000" dirty="0"/>
            </a:b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N°3</a:t>
            </a:r>
            <a:br>
              <a:rPr lang="en-US" dirty="0"/>
            </a:b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Sistema </a:t>
            </a:r>
            <a:r>
              <a:rPr lang="en-US" sz="2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Inteligente</a:t>
            </a:r>
            <a:br>
              <a:rPr lang="en-US" sz="2000" dirty="0"/>
            </a:b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sz="2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</a:t>
            </a:r>
            <a:br>
              <a:rPr lang="en-US" sz="2000" dirty="0"/>
            </a:br>
            <a:r>
              <a:rPr lang="en-US" sz="2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Inventario</a:t>
            </a:r>
            <a:r>
              <a:rPr lang="en-US" sz="20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2000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br>
              <a:rPr lang="en-US" dirty="0"/>
            </a:br>
            <a:endParaRPr dirty="0"/>
          </a:p>
        </p:txBody>
      </p:sp>
      <p:sp>
        <p:nvSpPr>
          <p:cNvPr id="24" name="Google Shape;24;g3a8c3e1dedf_0_0"/>
          <p:cNvSpPr txBox="1">
            <a:spLocks noGrp="1"/>
          </p:cNvSpPr>
          <p:nvPr>
            <p:ph type="subTitle" idx="1"/>
          </p:nvPr>
        </p:nvSpPr>
        <p:spPr>
          <a:xfrm>
            <a:off x="5202964" y="3229131"/>
            <a:ext cx="3267300" cy="10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sz="1400" b="1">
                <a:latin typeface="Calibri"/>
                <a:ea typeface="Calibri"/>
                <a:cs typeface="Calibri"/>
                <a:sym typeface="Calibri"/>
              </a:rPr>
              <a:t>Ruby Estrella Martínez Salas</a:t>
            </a:r>
            <a:endParaRPr sz="140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RUT: 19.500.090-5</a:t>
            </a:r>
            <a:endParaRPr sz="140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TPY1101 — Taller Aplicado de Programación</a:t>
            </a:r>
            <a:endParaRPr sz="1400"/>
          </a:p>
          <a:p>
            <a:pPr marL="34290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40080" y="292608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1417320"/>
            <a:ext cx="41148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65960" y="1417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resumido EP1+EP2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1874520"/>
            <a:ext cx="41148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65960" y="1874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2331720"/>
            <a:ext cx="41148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965960" y="188137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</a:t>
            </a: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2788920"/>
            <a:ext cx="41148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37160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65960" y="233857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formal (planilla)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71600" y="3246120"/>
            <a:ext cx="41148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13716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65960" y="280492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y resultados (54 casos)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71600" y="3703320"/>
            <a:ext cx="41148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3716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65960" y="326538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 y KPIs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965960" y="372585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lecciones aprendidas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3931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66928" y="1143000"/>
            <a:ext cx="3931920" cy="685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772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chilenas gestionan inventario con Excel o cuadernos.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errores, quiebres de stock y decisiones por intuición.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ERPs comerciales (SAP, Bsale) son caros: $30k-$50k/mes.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5152" y="1143000"/>
            <a:ext cx="3931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645152" y="1143000"/>
            <a:ext cx="3931920" cy="685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855464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46904" y="169164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Cloud con dashboard, predicción y alertas.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Spring Boot 4.0.6 + PostgreSQL 16.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PaaS: Railway + Neon + Vercel (plan gratuito).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+ CORS + SSL.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498848"/>
            <a:ext cx="8010144" cy="2743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66928" y="4498848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cumplidos · </a:t>
            </a: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· </a:t>
            </a: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· </a:t>
            </a: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frontend · sistema 100% funcional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384048" y="1700784"/>
            <a:ext cx="1417320" cy="1417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84048" y="1700784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577840" y="1078992"/>
            <a:ext cx="36576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5577840" y="1627632"/>
            <a:ext cx="3154680" cy="1783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852160" y="1627632"/>
            <a:ext cx="2697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</a:t>
            </a: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UML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pic>
        <p:nvPicPr>
          <p:cNvPr id="8" name="Image 0" descr="assets/diagrama_casos_us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30264" y="711927"/>
            <a:ext cx="5639379" cy="35811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315968"/>
            <a:ext cx="8010144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566928" y="4315968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relaciones «include» (validar token, validar stock, calcular IVA) · 3 «extend» (anular venta, marcar leída, generar alerta)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— tipos de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pic>
        <p:nvPicPr>
          <p:cNvPr id="8" name="Image 0" descr="assets/diagrama_clas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753411"/>
            <a:ext cx="8010144" cy="353447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315968"/>
            <a:ext cx="8010144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566928" y="4315968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· Composición (Venta◆DetalleVenta) · Agregación (Categoría◇Producto) · Dependencia (Controllers→Services)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</a:t>
            </a:r>
            <a:r>
              <a:rPr lang="en-US" sz="30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pic>
        <p:nvPicPr>
          <p:cNvPr id="8" name="Image 0" descr="assets/diagrama_component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762435"/>
            <a:ext cx="8010144" cy="353067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4315968"/>
            <a:ext cx="8010144" cy="38404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566928" y="4315968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externa (Vercel ↔ Railway ↔ Neon) + interna del backend (3 capas Spring Boot)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384048" y="1700784"/>
            <a:ext cx="1417320" cy="1417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84048" y="1700784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577840" y="1078992"/>
            <a:ext cx="36576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5577840" y="1627632"/>
            <a:ext cx="3154680" cy="1783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852160" y="1627632"/>
            <a:ext cx="2697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resultados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— 54 casos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704088"/>
            <a:ext cx="8010144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77240" y="70408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formal (IEEE 829):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Tipo · Módulo · Descripción · Precondición · Datos · Pasos · Resultado esperado · Resultado obtenido · Estado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137160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566928" y="1371600"/>
            <a:ext cx="3931920" cy="685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77240" y="1463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 (FUN)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7830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casos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ejecutados manualmente con Postman + navegador.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645152" y="137160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645152" y="1371600"/>
            <a:ext cx="3931920" cy="685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855464" y="14630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(UNI) — nuevo EP3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46904" y="17830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casos 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automatizados con JUnit 5 + Mockito (mvn test).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66928" y="2852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suite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715589"/>
              </p:ext>
            </p:extLst>
          </p:nvPr>
        </p:nvGraphicFramePr>
        <p:xfrm>
          <a:off x="566928" y="3191256"/>
          <a:ext cx="8010144" cy="1478280"/>
        </p:xfrm>
        <a:graphic>
          <a:graphicData uri="http://schemas.openxmlformats.org/drawingml/2006/table">
            <a:tbl>
              <a:tblPr/>
              <a:tblGrid>
                <a:gridCol w="4114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4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4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4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Autenticación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4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Productos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Ventas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4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Dashboard / Alertas / Predicciones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4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Integración Cloud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Aplicación del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170432"/>
            <a:ext cx="18928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66928" y="1225296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66928" y="173736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totales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24328" y="1170432"/>
            <a:ext cx="18928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624328" y="1225296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24328" y="173736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aprobados (OK)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1170432"/>
            <a:ext cx="18928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681728" y="1225296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81728" y="173736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observado (OBS)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39128" y="1170432"/>
            <a:ext cx="18928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739128" y="1225296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98,1%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39128" y="173736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8010144" cy="175564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éxito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(FUN+UNI)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(FUN+UNI)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(FUN+UNI)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Dashboard/Alertas/Predicc (FUN+UNI)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66928" y="4160520"/>
            <a:ext cx="8010144" cy="4114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777240" y="4160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TC-054 observado: </a:t>
            </a:r>
            <a:r>
              <a:rPr lang="en-US" sz="10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corre en UTC (Chile UTC-3/-4) → diferencia visual de 3-4h en fechas. Solución propuesta: Intl.DateTimeFormat con timeZone America/Santiago.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 — JUnit 5 + Mockito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1155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pruebas unitarias automatizadas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validan en aislamiento la capa de negocio mediante mocks de los repositorios (sin BD ni contexto Spring completo).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755648"/>
            <a:ext cx="3931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66928" y="1755648"/>
            <a:ext cx="3931920" cy="685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768096" y="18653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VentaServiceTest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47288" y="18653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" y="22128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registrarVenta_Exitoso · StockInsuficiente · anularVenta_RestauraStock · YaAnulada · calcularIVA_19%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45152" y="1755648"/>
            <a:ext cx="3931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645152" y="1755648"/>
            <a:ext cx="3931920" cy="685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846320" y="18653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AlertaServiceTest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25512" y="18653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tests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212848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Stock=0→CRITICO · BajoMin→ALTO · Medio→MEDIO · marcarLeida · listarOrdenadas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3108960"/>
            <a:ext cx="3931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566928" y="3108960"/>
            <a:ext cx="3931920" cy="685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768096" y="32186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47288" y="32186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8096" y="3566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login_Correctas_Token · login_Invalidas_401 · registro_NuevoUsuario_Token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45152" y="3108960"/>
            <a:ext cx="393192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4645152" y="3108960"/>
            <a:ext cx="3931920" cy="685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4846320" y="32186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ProductoServiceTest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25512" y="32186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tests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566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crearProducto_CodigoDuplicado_LanzaExcepcion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4206240"/>
            <a:ext cx="8010144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566928" y="4206240"/>
            <a:ext cx="8010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Comando:  </a:t>
            </a:r>
            <a:r>
              <a:rPr lang="en-US" sz="11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mvn test</a:t>
            </a:r>
            <a:r>
              <a:rPr lang="en-US" sz="1000" dirty="0">
                <a:solidFill>
                  <a:srgbClr val="94A3B8"/>
                </a:solidFill>
              </a:rPr>
              <a:t>    →    </a:t>
            </a: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run: 14, Failures: 0, Errors: 0, Skipped: 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384048" y="1700784"/>
            <a:ext cx="1417320" cy="14173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384048" y="1700784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577840" y="1078992"/>
            <a:ext cx="36576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5577840" y="1627632"/>
            <a:ext cx="3154680" cy="1783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852160" y="1627632"/>
            <a:ext cx="2697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</a:t>
            </a: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cierre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Final — KPIs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170432"/>
            <a:ext cx="18928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66928" y="1170432"/>
            <a:ext cx="73152" cy="868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18/18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68249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24328" y="1170432"/>
            <a:ext cx="18928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2624328" y="1170432"/>
            <a:ext cx="73152" cy="8686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2770632" y="12344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88920" y="168249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1728" y="1170432"/>
            <a:ext cx="18928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4681728" y="1170432"/>
            <a:ext cx="73152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4828032" y="12344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0" y="168249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JPA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39128" y="1170432"/>
            <a:ext cx="18928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739128" y="1170432"/>
            <a:ext cx="73152" cy="8686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885432" y="12344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82496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frontend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" y="2185416"/>
            <a:ext cx="18928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566928" y="2185416"/>
            <a:ext cx="73152" cy="8686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713232" y="22494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269748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(98,1% OK)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24328" y="2185416"/>
            <a:ext cx="18928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2624328" y="2185416"/>
            <a:ext cx="73152" cy="8686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2770632" y="22494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788920" y="269748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unitarias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81728" y="2185416"/>
            <a:ext cx="18928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4681728" y="2185416"/>
            <a:ext cx="73152" cy="8686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4828032" y="22494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846320" y="269748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chilenos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2185416"/>
            <a:ext cx="1892808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6739128" y="2185416"/>
            <a:ext cx="73152" cy="8686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6885432" y="224942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903720" y="269748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funcional</a:t>
            </a:r>
            <a:endParaRPr lang="en-US" sz="9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00400"/>
          <a:ext cx="8010144" cy="12700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 asociado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productos, categorías y ventas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OE1 — API REST segura (JWT)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con KPIs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OE2 — Dashboard en tiempo 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Predicción de demanda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OE3 — Media móvil ponderada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alertas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OE4 — Alertas automáticas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107899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66928" y="1828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Lecciones Aprendidas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4722876"/>
            <a:ext cx="9144000" cy="420624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48640" y="472287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ESCUELA DE INFORMÁTICA Y TELECOMUNICACIONES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223760" y="47228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Duoc UC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143000"/>
            <a:ext cx="3931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566928" y="1143000"/>
            <a:ext cx="3931920" cy="685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7724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664208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los 18 requisitos cumplidos.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MVC limpia y mantenible.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más simple que IaaS para pymes.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móvil ponderada adecuada para predecir demanda.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alineada a estándares (JWT + BCrypt + CORS + SSL).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98,1% éxito en 54 casos de prueba.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5152" y="1143000"/>
            <a:ext cx="39319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4645152" y="1143000"/>
            <a:ext cx="3931920" cy="685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855464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46904" y="1664208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unitarias detectan bugs que pasan desapercibidos en manuales.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gratuita Cloud: Railway expiró tras 30 días (limitación esperada del plan).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horarias: siempre UTC en BD, convertir en presentación.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requirió iteraciones; vale la pena configurarlo bien al inicio.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feedback formal de UML mejora la calidad técnica.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434840"/>
            <a:ext cx="8010144" cy="29260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66928" y="443484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Código: </a:t>
            </a:r>
            <a:r>
              <a:rPr lang="en-US" sz="900" b="1" dirty="0">
                <a:solidFill>
                  <a:srgbClr val="3B82F6"/>
                </a:solidFill>
              </a:rPr>
              <a:t>github.com/gubynousky/proyecto-titulo</a:t>
            </a:r>
            <a:r>
              <a:rPr lang="en-US" sz="900" dirty="0">
                <a:solidFill>
                  <a:srgbClr val="94A3B8"/>
                </a:solidFill>
              </a:rPr>
              <a:t>   ·   URLs: </a:t>
            </a:r>
            <a:r>
              <a:rPr lang="en-US" sz="900" dirty="0">
                <a:solidFill>
                  <a:srgbClr val="3B82F6"/>
                </a:solidFill>
              </a:rPr>
              <a:t>inventario-frontend-kappa.vercel.app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911</Words>
  <Application>Microsoft Office PowerPoint</Application>
  <PresentationFormat>Presentación en pantalla (16:9)</PresentationFormat>
  <Paragraphs>209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Calibri</vt:lpstr>
      <vt:lpstr>Consolas</vt:lpstr>
      <vt:lpstr>Office Theme</vt:lpstr>
      <vt:lpstr>Estado de Avance N°3 Sistema Inteligente de Gestión de Inventario para Pymes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 de Avance N°3 - Sistema Inteligente de Gestión de Inventario para Pymes</dc:title>
  <dc:subject>PptxGenJS Presentation</dc:subject>
  <dc:creator>Ruby Estrella Martínez Salas</dc:creator>
  <cp:lastModifiedBy>RUBY MARTINEZ MARTINEZ SALAS</cp:lastModifiedBy>
  <cp:revision>2</cp:revision>
  <dcterms:created xsi:type="dcterms:W3CDTF">2026-06-28T04:56:41Z</dcterms:created>
  <dcterms:modified xsi:type="dcterms:W3CDTF">2026-06-28T22:25:25Z</dcterms:modified>
</cp:coreProperties>
</file>